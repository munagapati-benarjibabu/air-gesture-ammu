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8a8c8859a0f4c89" /><Relationship Type="http://schemas.openxmlformats.org/officeDocument/2006/relationships/extended-properties" Target="/docProps/app.xml" Id="Rf166c9e61b7e4721" /><Relationship Type="http://schemas.openxmlformats.org/officeDocument/2006/relationships/officeDocument" Target="/ppt/presentation.xml" Id="R558e13b3f95f41b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bbdd1c997924d43"/>
  </p:sldMasterIdLst>
  <p:notesMasterIdLst>
    <p:notesMasterId xmlns:r="http://schemas.openxmlformats.org/officeDocument/2006/relationships" r:id="R8947f50d3ebb4c68"/>
  </p:notesMasterIdLst>
  <p:sldIdLst>
    <p:sldId xmlns:r="http://schemas.openxmlformats.org/officeDocument/2006/relationships" id="256" r:id="Rb09131dd33834466"/>
    <p:sldId xmlns:r="http://schemas.openxmlformats.org/officeDocument/2006/relationships" id="257" r:id="R1447f41cc8f04619"/>
    <p:sldId xmlns:r="http://schemas.openxmlformats.org/officeDocument/2006/relationships" id="258" r:id="Rc296ee0e0f4c42d3"/>
    <p:sldId xmlns:r="http://schemas.openxmlformats.org/officeDocument/2006/relationships" id="259" r:id="R71c964507790447a"/>
    <p:sldId xmlns:r="http://schemas.openxmlformats.org/officeDocument/2006/relationships" id="260" r:id="R8cbe75747e0342c8"/>
    <p:sldId xmlns:r="http://schemas.openxmlformats.org/officeDocument/2006/relationships" id="261" r:id="Rcf4762bb00494b5e"/>
    <p:sldId xmlns:r="http://schemas.openxmlformats.org/officeDocument/2006/relationships" id="262" r:id="R204748d6d30a4366"/>
    <p:sldId xmlns:r="http://schemas.openxmlformats.org/officeDocument/2006/relationships" id="263" r:id="Raab2fb9a60324ed3"/>
    <p:sldId xmlns:r="http://schemas.openxmlformats.org/officeDocument/2006/relationships" id="264" r:id="R804a595c73e84a9d"/>
    <p:sldId xmlns:r="http://schemas.openxmlformats.org/officeDocument/2006/relationships" id="265" r:id="R0139abb048bf4a3a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be54423d45745c0" /><Relationship Type="http://schemas.openxmlformats.org/officeDocument/2006/relationships/slideMaster" Target="/ppt/slideMasters/slideMaster1.xml" Id="R0bbdd1c997924d43" /><Relationship Type="http://schemas.openxmlformats.org/officeDocument/2006/relationships/notesMaster" Target="/ppt/notesMasters/notesMaster1.xml" Id="R8947f50d3ebb4c68" /><Relationship Type="http://schemas.openxmlformats.org/officeDocument/2006/relationships/presProps" Target="/ppt/presProps.xml" Id="Rb1f952a1438a45b4" /><Relationship Type="http://schemas.openxmlformats.org/officeDocument/2006/relationships/tableStyles" Target="/ppt/tableStyles.xml" Id="R3ad6b9ac9d3842e7" /><Relationship Type="http://schemas.openxmlformats.org/officeDocument/2006/relationships/slide" Target="/ppt/slides/slide1.xml" Id="Rb09131dd33834466" /><Relationship Type="http://schemas.openxmlformats.org/officeDocument/2006/relationships/slide" Target="/ppt/slides/slide2.xml" Id="R1447f41cc8f04619" /><Relationship Type="http://schemas.openxmlformats.org/officeDocument/2006/relationships/slide" Target="/ppt/slides/slide3.xml" Id="Rc296ee0e0f4c42d3" /><Relationship Type="http://schemas.openxmlformats.org/officeDocument/2006/relationships/slide" Target="/ppt/slides/slide4.xml" Id="R71c964507790447a" /><Relationship Type="http://schemas.openxmlformats.org/officeDocument/2006/relationships/slide" Target="/ppt/slides/slide5.xml" Id="R8cbe75747e0342c8" /><Relationship Type="http://schemas.openxmlformats.org/officeDocument/2006/relationships/slide" Target="/ppt/slides/slide6.xml" Id="Rcf4762bb00494b5e" /><Relationship Type="http://schemas.openxmlformats.org/officeDocument/2006/relationships/slide" Target="/ppt/slides/slide7.xml" Id="R204748d6d30a4366" /><Relationship Type="http://schemas.openxmlformats.org/officeDocument/2006/relationships/slide" Target="/ppt/slides/slide8.xml" Id="Raab2fb9a60324ed3" /><Relationship Type="http://schemas.openxmlformats.org/officeDocument/2006/relationships/slide" Target="/ppt/slides/slide9.xml" Id="R804a595c73e84a9d" /><Relationship Type="http://schemas.openxmlformats.org/officeDocument/2006/relationships/slide" Target="/ppt/slides/slide10.xml" Id="R0139abb048bf4a3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5ad4aba11c640d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02f3fc5342f41b0" /><Relationship Type="http://schemas.openxmlformats.org/officeDocument/2006/relationships/notesMaster" Target="/ppt/notesMasters/notesMaster1.xml" Id="R425a072a5ad9447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7860f08c47d4dcc" /><Relationship Type="http://schemas.openxmlformats.org/officeDocument/2006/relationships/notesMaster" Target="/ppt/notesMasters/notesMaster1.xml" Id="Ra5f1adccc55b403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4bd882369bf44d0" /><Relationship Type="http://schemas.openxmlformats.org/officeDocument/2006/relationships/notesMaster" Target="/ppt/notesMasters/notesMaster1.xml" Id="R87c3c914326a429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868034741014a6e" /><Relationship Type="http://schemas.openxmlformats.org/officeDocument/2006/relationships/notesMaster" Target="/ppt/notesMasters/notesMaster1.xml" Id="R3d3ac05b30a4459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7834f12d7ab45ae" /><Relationship Type="http://schemas.openxmlformats.org/officeDocument/2006/relationships/notesMaster" Target="/ppt/notesMasters/notesMaster1.xml" Id="R2fafccbd8b23423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00fb362b7f0417f" /><Relationship Type="http://schemas.openxmlformats.org/officeDocument/2006/relationships/notesMaster" Target="/ppt/notesMasters/notesMaster1.xml" Id="R3977e2fc9d70439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5715d0a9e2041cd" /><Relationship Type="http://schemas.openxmlformats.org/officeDocument/2006/relationships/notesMaster" Target="/ppt/notesMasters/notesMaster1.xml" Id="R7a26e4e7502c4ef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ca6c22f1c4a4750" /><Relationship Type="http://schemas.openxmlformats.org/officeDocument/2006/relationships/notesMaster" Target="/ppt/notesMasters/notesMaster1.xml" Id="R1322e6bbdfd5453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a4a12b606fd4456" /><Relationship Type="http://schemas.openxmlformats.org/officeDocument/2006/relationships/notesMaster" Target="/ppt/notesMasters/notesMaster1.xml" Id="R7b69ac78774d4a4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1661c1f278a49a9" /><Relationship Type="http://schemas.openxmlformats.org/officeDocument/2006/relationships/notesMaster" Target="/ppt/notesMasters/notesMaster1.xml" Id="R1bc9c5360f994ba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e3c47e1d3a24b9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9d4ac8702d74dbb" /><Relationship Type="http://schemas.openxmlformats.org/officeDocument/2006/relationships/slideLayout" Target="/ppt/slideLayouts/slideLayout1.xml" Id="R54b68f93459b43a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4b68f93459b43a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93b2dde434400d" /><Relationship Type="http://schemas.openxmlformats.org/officeDocument/2006/relationships/notesSlide" Target="/ppt/notesSlides/notesSlide1.xml" Id="R347cd4db951a41d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0c1190a47a4029" /><Relationship Type="http://schemas.openxmlformats.org/officeDocument/2006/relationships/notesSlide" Target="/ppt/notesSlides/notesSlide2.xml" Id="R20f2d2f14e9146f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93b54828bc47d7" /><Relationship Type="http://schemas.openxmlformats.org/officeDocument/2006/relationships/notesSlide" Target="/ppt/notesSlides/notesSlide3.xml" Id="R9f306634589b471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c6b726884d4697" /><Relationship Type="http://schemas.openxmlformats.org/officeDocument/2006/relationships/notesSlide" Target="/ppt/notesSlides/notesSlide4.xml" Id="R75e0358c455c4a1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19091edf6e4cf0" /><Relationship Type="http://schemas.openxmlformats.org/officeDocument/2006/relationships/notesSlide" Target="/ppt/notesSlides/notesSlide5.xml" Id="Rbbfd341f297c472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a5b493258e46ef" /><Relationship Type="http://schemas.openxmlformats.org/officeDocument/2006/relationships/notesSlide" Target="/ppt/notesSlides/notesSlide6.xml" Id="R40ab52af1ac246e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f7fd7dfd9e4d72" /><Relationship Type="http://schemas.openxmlformats.org/officeDocument/2006/relationships/notesSlide" Target="/ppt/notesSlides/notesSlide7.xml" Id="R8cbe6da8a2894d7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3da20a9b2b4fe1" /><Relationship Type="http://schemas.openxmlformats.org/officeDocument/2006/relationships/notesSlide" Target="/ppt/notesSlides/notesSlide8.xml" Id="R0cfdf3032064408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053d802f3a48b9" /><Relationship Type="http://schemas.openxmlformats.org/officeDocument/2006/relationships/notesSlide" Target="/ppt/notesSlides/notesSlide9.xml" Id="Rff3a9c1b4a7140e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716fe36e9a428b" /><Relationship Type="http://schemas.openxmlformats.org/officeDocument/2006/relationships/notesSlide" Target="/ppt/notesSlides/notesSlide10.xml" Id="R503fd1ed2a334b9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hape">
            <a:extLst xmlns:a="http://schemas.openxmlformats.org/drawingml/2006/main">
              <a:ext uri="{FF2B5EF4-FFF2-40B4-BE49-F238E27FC236}">
                <a16:creationId xmlns:a16="http://schemas.microsoft.com/office/drawing/2014/main" id="{4D0684DE-161B-4318-A185-C4BF630CA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092D0776-F219-4F5E-B2B1-E2EC9EC07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87E8B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087E8B"/>
                </a:solidFill>
                <a:latin typeface="Aptos Display"/>
                <a:ea typeface="Aptos Display"/>
                <a:cs typeface="Aptos Display"/>
              </a:rPr>
              <a:t>ANDROID ACCESSIBILITY + COMPUTER VISION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D636394B-7931-4403-8F18-D55AF7F1E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5143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5202B"/>
                </a:solidFill>
                <a:latin typeface="Aptos Display"/>
                <a:ea typeface="Aptos Display"/>
                <a:cs typeface="Aptos Display"/>
              </a:defRPr>
            </a:pPr>
            <a:r>
              <a:rPr sz="4350" b="1">
                <a:solidFill>
                  <a:srgbClr val="15202B"/>
                </a:solidFill>
                <a:latin typeface="Aptos Display"/>
                <a:ea typeface="Aptos Display"/>
                <a:cs typeface="Aptos Display"/>
              </a:rPr>
              <a:t>Air Gesture</a:t>
            </a:r>
          </a:p>
          <a:p xmlns:a="http://schemas.openxmlformats.org/drawingml/2006/main">
            <a:pPr algn="l">
              <a:defRPr sz="4350" b="1">
                <a:solidFill>
                  <a:srgbClr val="15202B"/>
                </a:solidFill>
                <a:latin typeface="Aptos Display"/>
                <a:ea typeface="Aptos Display"/>
                <a:cs typeface="Aptos Display"/>
              </a:defRPr>
            </a:pPr>
            <a:r>
              <a:rPr sz="4350" b="1">
                <a:solidFill>
                  <a:srgbClr val="15202B"/>
                </a:solidFill>
                <a:latin typeface="Aptos Display"/>
                <a:ea typeface="Aptos Display"/>
                <a:cs typeface="Aptos Display"/>
              </a:rPr>
              <a:t>Ammu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DFA6ADBB-1206-4CFE-ACAE-DCF75BD7D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78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D6B78"/>
                </a:solidFill>
                <a:latin typeface="Aptos"/>
                <a:ea typeface="Aptos"/>
                <a:cs typeface="Aptos"/>
              </a:rPr>
              <a:t>A touchless Android assistant for voice, camera gestures, motion sensors, media, navigation, calls, and lost-phone tracking.</a:t>
            </a:r>
          </a:p>
        </p:txBody>
      </p:sp>
      <p:sp>
        <p:nvSpPr>
          <p:cNvPr id="5" name="pill-Kotlin + Compose">
            <a:extLst xmlns:a="http://schemas.openxmlformats.org/drawingml/2006/main">
              <a:ext uri="{FF2B5EF4-FFF2-40B4-BE49-F238E27FC236}">
                <a16:creationId xmlns:a16="http://schemas.microsoft.com/office/drawing/2014/main" id="{BC84AF5F-18C3-4842-B319-D4388F360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15240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7F5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53B44A52-D513-4279-9FC8-E66E7AAF6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52925"/>
            <a:ext cx="1371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5202B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15202B"/>
                </a:solidFill>
                <a:latin typeface="Aptos Display"/>
                <a:ea typeface="Aptos Display"/>
                <a:cs typeface="Aptos Display"/>
              </a:rPr>
              <a:t>Kotlin + Compose</a:t>
            </a:r>
          </a:p>
        </p:txBody>
      </p:sp>
      <p:sp>
        <p:nvSpPr>
          <p:cNvPr id="7" name="pill-CameraX + MediaPipe">
            <a:extLst xmlns:a="http://schemas.openxmlformats.org/drawingml/2006/main">
              <a:ext uri="{FF2B5EF4-FFF2-40B4-BE49-F238E27FC236}">
                <a16:creationId xmlns:a16="http://schemas.microsoft.com/office/drawing/2014/main" id="{9A80332B-B199-4689-AD75-65EF7B049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286250"/>
            <a:ext cx="1847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AF1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3A857D4E-B351-4A50-B860-4743A4BA7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352925"/>
            <a:ext cx="1695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5202B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15202B"/>
                </a:solidFill>
                <a:latin typeface="Aptos Display"/>
                <a:ea typeface="Aptos Display"/>
                <a:cs typeface="Aptos Display"/>
              </a:rPr>
              <a:t>CameraX + MediaPipe</a:t>
            </a:r>
          </a:p>
        </p:txBody>
      </p:sp>
      <p:sp>
        <p:nvSpPr>
          <p:cNvPr id="9" name="pill-Accessibility">
            <a:extLst xmlns:a="http://schemas.openxmlformats.org/drawingml/2006/main">
              <a:ext uri="{FF2B5EF4-FFF2-40B4-BE49-F238E27FC236}">
                <a16:creationId xmlns:a16="http://schemas.microsoft.com/office/drawing/2014/main" id="{0D6B8518-0177-4539-AD3E-6C425A32C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286250"/>
            <a:ext cx="13144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DEB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A6CD1893-CDA2-48CB-9612-E74E5C63A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352925"/>
            <a:ext cx="116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5202B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15202B"/>
                </a:solidFill>
                <a:latin typeface="Aptos Display"/>
                <a:ea typeface="Aptos Display"/>
                <a:cs typeface="Aptos Display"/>
              </a:rPr>
              <a:t>Accessibility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DF200E1C-AC70-4319-9960-595B7EA51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53125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D6B78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5D6B78"/>
                </a:solidFill>
                <a:latin typeface="Aptos Display"/>
                <a:ea typeface="Aptos Display"/>
                <a:cs typeface="Aptos Display"/>
              </a:rPr>
              <a:t>Project overview | Working diagrams | Requirements | Setup</a:t>
            </a:r>
          </a:p>
        </p:txBody>
      </p:sp>
      <p:sp>
        <p:nvSpPr>
          <p:cNvPr id="12" name="phone">
            <a:extLst xmlns:a="http://schemas.openxmlformats.org/drawingml/2006/main">
              <a:ext uri="{FF2B5EF4-FFF2-40B4-BE49-F238E27FC236}">
                <a16:creationId xmlns:a16="http://schemas.microsoft.com/office/drawing/2014/main" id="{45CD5685-3D96-4070-A55F-74343803D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590550"/>
            <a:ext cx="3009900" cy="5676900"/>
          </a:xfrm>
          <a:prstGeom xmlns:a="http://schemas.openxmlformats.org/drawingml/2006/main" prst="roundRect">
            <a:avLst>
              <a:gd name="adj" fmla="val 3797"/>
            </a:avLst>
          </a:prstGeom>
          <a:solidFill xmlns:a="http://schemas.openxmlformats.org/drawingml/2006/main">
            <a:srgbClr val="15202B"/>
          </a:solidFill>
          <a:ln xmlns:a="http://schemas.openxmlformats.org/drawingml/2006/main" w="9525">
            <a:solidFill>
              <a:srgbClr val="15202B"/>
            </a:solidFill>
            <a:prstDash val="solid"/>
          </a:ln>
        </p:spPr>
      </p:sp>
      <p:sp>
        <p:nvSpPr>
          <p:cNvPr id="13" name="screen">
            <a:extLst xmlns:a="http://schemas.openxmlformats.org/drawingml/2006/main">
              <a:ext uri="{FF2B5EF4-FFF2-40B4-BE49-F238E27FC236}">
                <a16:creationId xmlns:a16="http://schemas.microsoft.com/office/drawing/2014/main" id="{3C7755D7-34BE-45F9-9E86-D9E9B861E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819150"/>
            <a:ext cx="2667000" cy="52197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F39778-8F86-463C-A6F1-790A2E725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9334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02B"/>
          </a:solidFill>
          <a:ln xmlns:a="http://schemas.openxmlformats.org/drawingml/2006/main" w="0">
            <a:solidFill>
              <a:srgbClr val="15202B"/>
            </a:solidFill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6056F638-E09E-4C25-8D3D-BB4B317E3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37160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5202B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15202B"/>
                </a:solidFill>
                <a:latin typeface="Aptos Display"/>
                <a:ea typeface="Aptos Display"/>
                <a:cs typeface="Aptos Display"/>
              </a:rPr>
              <a:t>AMMU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DDCD8A14-1DE3-45C2-A6D9-B84D5D99B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790700"/>
            <a:ext cx="2171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D6B7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B78"/>
                </a:solidFill>
                <a:latin typeface="Aptos"/>
                <a:ea typeface="Aptos"/>
                <a:cs typeface="Aptos"/>
              </a:rPr>
              <a:t>Ready for touchless control</a:t>
            </a:r>
          </a:p>
        </p:txBody>
      </p:sp>
      <p:sp>
        <p:nvSpPr>
          <p:cNvPr id="17" name="assistant-core">
            <a:extLst xmlns:a="http://schemas.openxmlformats.org/drawingml/2006/main">
              <a:ext uri="{FF2B5EF4-FFF2-40B4-BE49-F238E27FC236}">
                <a16:creationId xmlns:a16="http://schemas.microsoft.com/office/drawing/2014/main" id="{080B14DB-5EBA-49BD-8B54-FB73767FA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647950"/>
            <a:ext cx="133350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80651B82-76F4-4F59-A075-995A84F8B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924175"/>
            <a:ext cx="10287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VOICE</a:t>
            </a:r>
          </a:p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VISION</a:t>
            </a:r>
          </a:p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SENSORS</a:t>
            </a:r>
          </a:p>
        </p:txBody>
      </p:sp>
      <p:sp>
        <p:nvSpPr>
          <p:cNvPr id="19" name="pill-Scroll">
            <a:extLst xmlns:a="http://schemas.openxmlformats.org/drawingml/2006/main">
              <a:ext uri="{FF2B5EF4-FFF2-40B4-BE49-F238E27FC236}">
                <a16:creationId xmlns:a16="http://schemas.microsoft.com/office/drawing/2014/main" id="{DA1A300D-1DA9-4045-82EA-317360109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419600"/>
            <a:ext cx="9334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7F5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4C086838-6A0E-4D25-8DF8-281FFF43D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486275"/>
            <a:ext cx="781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5202B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15202B"/>
                </a:solidFill>
                <a:latin typeface="Aptos Display"/>
                <a:ea typeface="Aptos Display"/>
                <a:cs typeface="Aptos Display"/>
              </a:rPr>
              <a:t>Scroll</a:t>
            </a:r>
          </a:p>
        </p:txBody>
      </p:sp>
      <p:sp>
        <p:nvSpPr>
          <p:cNvPr id="21" name="pill-Media">
            <a:extLst xmlns:a="http://schemas.openxmlformats.org/drawingml/2006/main">
              <a:ext uri="{FF2B5EF4-FFF2-40B4-BE49-F238E27FC236}">
                <a16:creationId xmlns:a16="http://schemas.microsoft.com/office/drawing/2014/main" id="{C9902057-5916-4FEF-A9C8-C56648E55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419600"/>
            <a:ext cx="9334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AF1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935FEFB0-AFA1-4EF6-AA9D-B73CDC3A5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486275"/>
            <a:ext cx="781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5202B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15202B"/>
                </a:solidFill>
                <a:latin typeface="Aptos Display"/>
                <a:ea typeface="Aptos Display"/>
                <a:cs typeface="Aptos Display"/>
              </a:rPr>
              <a:t>Media</a:t>
            </a:r>
          </a:p>
        </p:txBody>
      </p:sp>
      <p:sp>
        <p:nvSpPr>
          <p:cNvPr id="23" name="pill-Home">
            <a:extLst xmlns:a="http://schemas.openxmlformats.org/drawingml/2006/main">
              <a:ext uri="{FF2B5EF4-FFF2-40B4-BE49-F238E27FC236}">
                <a16:creationId xmlns:a16="http://schemas.microsoft.com/office/drawing/2014/main" id="{E10593B2-B39B-4B0A-8DD6-D7AC5C13F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857750"/>
            <a:ext cx="9334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DEB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F7CE1ADD-8672-475D-BB8C-BC692144D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924425"/>
            <a:ext cx="781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5202B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15202B"/>
                </a:solidFill>
                <a:latin typeface="Aptos Display"/>
                <a:ea typeface="Aptos Display"/>
                <a:cs typeface="Aptos Display"/>
              </a:rPr>
              <a:t>Home</a:t>
            </a:r>
          </a:p>
        </p:txBody>
      </p:sp>
      <p:sp>
        <p:nvSpPr>
          <p:cNvPr id="25" name="pill-Calls">
            <a:extLst xmlns:a="http://schemas.openxmlformats.org/drawingml/2006/main">
              <a:ext uri="{FF2B5EF4-FFF2-40B4-BE49-F238E27FC236}">
                <a16:creationId xmlns:a16="http://schemas.microsoft.com/office/drawing/2014/main" id="{D4AEFC1D-92A3-4DD5-9039-17325E73F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857750"/>
            <a:ext cx="9334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2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ED13D797-774B-4B31-BE52-DCF460BEB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924425"/>
            <a:ext cx="781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5202B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15202B"/>
                </a:solidFill>
                <a:latin typeface="Aptos Display"/>
                <a:ea typeface="Aptos Display"/>
                <a:cs typeface="Aptos Display"/>
              </a:rPr>
              <a:t>Calls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7625A07-CF1C-4C5D-834F-D902DA0AD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61975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02B"/>
          </a:solidFill>
          <a:ln xmlns:a="http://schemas.openxmlformats.org/drawingml/2006/main" w="0">
            <a:solidFill>
              <a:srgbClr val="15202B"/>
            </a:solidFill>
            <a:prstDash val="solid"/>
          </a:ln>
        </p:spPr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4E0E635C-D182-4416-9855-40E1B897A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9" name="pill-SWIPE">
            <a:extLst xmlns:a="http://schemas.openxmlformats.org/drawingml/2006/main">
              <a:ext uri="{FF2B5EF4-FFF2-40B4-BE49-F238E27FC236}">
                <a16:creationId xmlns:a16="http://schemas.microsoft.com/office/drawing/2014/main" id="{438EB698-A05C-4741-81A6-77130E33D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1714500"/>
            <a:ext cx="10668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7F5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text">
            <a:extLst xmlns:a="http://schemas.openxmlformats.org/drawingml/2006/main">
              <a:ext uri="{FF2B5EF4-FFF2-40B4-BE49-F238E27FC236}">
                <a16:creationId xmlns:a16="http://schemas.microsoft.com/office/drawing/2014/main" id="{5C650430-7B05-463D-83A1-C67E86CD8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1781175"/>
            <a:ext cx="914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5202B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15202B"/>
                </a:solidFill>
                <a:latin typeface="Aptos Display"/>
                <a:ea typeface="Aptos Display"/>
                <a:cs typeface="Aptos Display"/>
              </a:rPr>
              <a:t>SWIPE</a:t>
            </a:r>
          </a:p>
        </p:txBody>
      </p:sp>
      <p:sp>
        <p:nvSpPr>
          <p:cNvPr id="31" name="pill-PALM">
            <a:extLst xmlns:a="http://schemas.openxmlformats.org/drawingml/2006/main">
              <a:ext uri="{FF2B5EF4-FFF2-40B4-BE49-F238E27FC236}">
                <a16:creationId xmlns:a16="http://schemas.microsoft.com/office/drawing/2014/main" id="{EC81AC11-19E0-43BC-90A4-E052129F0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209800"/>
            <a:ext cx="10668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AF1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text">
            <a:extLst xmlns:a="http://schemas.openxmlformats.org/drawingml/2006/main">
              <a:ext uri="{FF2B5EF4-FFF2-40B4-BE49-F238E27FC236}">
                <a16:creationId xmlns:a16="http://schemas.microsoft.com/office/drawing/2014/main" id="{C2581C2C-825C-4E36-AF74-AEE5A3D0A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2276475"/>
            <a:ext cx="914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5202B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15202B"/>
                </a:solidFill>
                <a:latin typeface="Aptos Display"/>
                <a:ea typeface="Aptos Display"/>
                <a:cs typeface="Aptos Display"/>
              </a:rPr>
              <a:t>PALM</a:t>
            </a:r>
          </a:p>
        </p:txBody>
      </p:sp>
      <p:sp>
        <p:nvSpPr>
          <p:cNvPr id="33" name="pill-FIST">
            <a:extLst xmlns:a="http://schemas.openxmlformats.org/drawingml/2006/main">
              <a:ext uri="{FF2B5EF4-FFF2-40B4-BE49-F238E27FC236}">
                <a16:creationId xmlns:a16="http://schemas.microsoft.com/office/drawing/2014/main" id="{CD74FC16-CA38-4E61-ABAC-5B7D3DBCD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705100"/>
            <a:ext cx="10668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DEB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text">
            <a:extLst xmlns:a="http://schemas.openxmlformats.org/drawingml/2006/main">
              <a:ext uri="{FF2B5EF4-FFF2-40B4-BE49-F238E27FC236}">
                <a16:creationId xmlns:a16="http://schemas.microsoft.com/office/drawing/2014/main" id="{2326ADB7-0B1B-45B1-B44C-2458096C2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2771775"/>
            <a:ext cx="914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5202B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15202B"/>
                </a:solidFill>
                <a:latin typeface="Aptos Display"/>
                <a:ea typeface="Aptos Display"/>
                <a:cs typeface="Aptos Display"/>
              </a:rPr>
              <a:t>FIST</a:t>
            </a:r>
          </a:p>
        </p:txBody>
      </p:sp>
      <p:cxnSp>
        <p:nvCxnSpPr>
          <p:cNvPr id="70" name=""/>
          <p:cNvCxnSpPr>
            <a:stCxn xmlns:a="http://schemas.openxmlformats.org/drawingml/2006/main" id="17" idx="3"/>
            <a:endCxn xmlns:a="http://schemas.openxmlformats.org/drawingml/2006/main" id="12" idx="3"/>
          </p:cNvCxnSpPr>
          <p:nvPr/>
        </p:nvCxnSpPr>
        <p:spPr>
          <a:xfrm xmlns:a="http://schemas.openxmlformats.org/drawingml/2006/main">
            <a:off x="9391650" y="3314700"/>
            <a:ext cx="838200" cy="1143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5A5F"/>
            </a:solidFill>
            <a:prstDash val="solid"/>
            <a:headEnd type="arrow" w="med" len="med"/>
          </a:ln>
        </p:spPr>
      </p:cxnSp>
    </p:spTree>
    <p:extLst>
      <p:ext uri="{BB962C8B-B14F-4D97-AF65-F5344CB8AC3E}">
        <p14:creationId xmlns:p14="http://schemas.microsoft.com/office/powerpoint/2010/main" val="50134422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E9541C4A-B10B-4CBA-A6BB-57CCD9C07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87E8B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087E8B"/>
                </a:solidFill>
                <a:latin typeface="Aptos Display"/>
                <a:ea typeface="Aptos Display"/>
                <a:cs typeface="Aptos Display"/>
              </a:rPr>
              <a:t>PROJECT SCOPE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8382D80A-2059-4B90-B94C-F8F351146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5202B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5202B"/>
                </a:solidFill>
                <a:latin typeface="Aptos Display"/>
                <a:ea typeface="Aptos Display"/>
                <a:cs typeface="Aptos Display"/>
              </a:rPr>
              <a:t>One assistant, four control paths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6B8D815B-4213-4C82-A827-6E8C3A26E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87AAB17-8557-4F06-91F0-05F80B033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D6B78"/>
                </a:solidFill>
                <a:latin typeface="Aptos Display"/>
                <a:ea typeface="Aptos Display"/>
                <a:cs typeface="Aptos Display"/>
              </a:defRPr>
            </a:pPr>
            <a:r>
              <a:rPr sz="750" b="1">
                <a:solidFill>
                  <a:srgbClr val="5D6B78"/>
                </a:solidFill>
                <a:latin typeface="Aptos Display"/>
                <a:ea typeface="Aptos Display"/>
                <a:cs typeface="Aptos Display"/>
              </a:rPr>
              <a:t>02</a:t>
            </a:r>
          </a:p>
        </p:txBody>
      </p:sp>
      <p:sp>
        <p:nvSpPr>
          <p:cNvPr id="5" name="shape">
            <a:extLst xmlns:a="http://schemas.openxmlformats.org/drawingml/2006/main">
              <a:ext uri="{FF2B5EF4-FFF2-40B4-BE49-F238E27FC236}">
                <a16:creationId xmlns:a16="http://schemas.microsoft.com/office/drawing/2014/main" id="{EC7606BC-FCBC-43E0-9EED-DD071BEFA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5391150" cy="1866900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E7F5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565834E9-92EE-4DF0-8279-B8DF5A674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90700"/>
            <a:ext cx="495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87E8B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087E8B"/>
                </a:solidFill>
                <a:latin typeface="Aptos Display"/>
                <a:ea typeface="Aptos Display"/>
                <a:cs typeface="Aptos Display"/>
              </a:rPr>
              <a:t>01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8E713162-E1CD-451D-954F-800A8FC6F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18097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5202B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15202B"/>
                </a:solidFill>
                <a:latin typeface="Aptos Display"/>
                <a:ea typeface="Aptos Display"/>
                <a:cs typeface="Aptos Display"/>
              </a:rPr>
              <a:t>Voice commands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78DF493C-3327-437C-BBED-A9E9F3482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305050"/>
            <a:ext cx="4095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B7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6B78"/>
                </a:solidFill>
                <a:latin typeface="Aptos"/>
                <a:ea typeface="Aptos"/>
                <a:cs typeface="Aptos"/>
              </a:rPr>
              <a:t>SpeechRecognizer captures commands; TextToSpeech confirms actions and status.</a:t>
            </a:r>
          </a:p>
        </p:txBody>
      </p:sp>
      <p:sp>
        <p:nvSpPr>
          <p:cNvPr id="9" name="shape">
            <a:extLst xmlns:a="http://schemas.openxmlformats.org/drawingml/2006/main">
              <a:ext uri="{FF2B5EF4-FFF2-40B4-BE49-F238E27FC236}">
                <a16:creationId xmlns:a16="http://schemas.microsoft.com/office/drawing/2014/main" id="{DDEE62B0-CC51-429B-81EC-8F895ECDF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581150"/>
            <a:ext cx="5391150" cy="1866900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EAF1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69478D15-D560-4CE6-B26B-84A23475F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790700"/>
            <a:ext cx="495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87E8B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087E8B"/>
                </a:solidFill>
                <a:latin typeface="Aptos Display"/>
                <a:ea typeface="Aptos Display"/>
                <a:cs typeface="Aptos Display"/>
              </a:rPr>
              <a:t>02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08F7ACF7-C3DF-4005-931F-BD61A1C5E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8097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5202B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15202B"/>
                </a:solidFill>
                <a:latin typeface="Aptos Display"/>
                <a:ea typeface="Aptos Display"/>
                <a:cs typeface="Aptos Display"/>
              </a:rPr>
              <a:t>Air gestures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A1939DCB-FC6F-46BC-8052-85D9AEBAC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305050"/>
            <a:ext cx="4095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B7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6B78"/>
                </a:solidFill>
                <a:latin typeface="Aptos"/>
                <a:ea typeface="Aptos"/>
                <a:cs typeface="Aptos"/>
              </a:rPr>
              <a:t>Front-camera frames feed MediaPipe recognition for swipes, palm, and fist.</a:t>
            </a:r>
          </a:p>
        </p:txBody>
      </p:sp>
      <p:sp>
        <p:nvSpPr>
          <p:cNvPr id="13" name="shape">
            <a:extLst xmlns:a="http://schemas.openxmlformats.org/drawingml/2006/main">
              <a:ext uri="{FF2B5EF4-FFF2-40B4-BE49-F238E27FC236}">
                <a16:creationId xmlns:a16="http://schemas.microsoft.com/office/drawing/2014/main" id="{FD89E167-1D0E-4A6F-AC09-064D33182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48100"/>
            <a:ext cx="5391150" cy="1866900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FFF2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ED6C73B7-E9E1-45BE-91BC-29807333A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57650"/>
            <a:ext cx="495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87E8B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087E8B"/>
                </a:solidFill>
                <a:latin typeface="Aptos Display"/>
                <a:ea typeface="Aptos Display"/>
                <a:cs typeface="Aptos Display"/>
              </a:rPr>
              <a:t>03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1E2EBA5E-F0AF-4540-9FA1-B319F0E87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07670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5202B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15202B"/>
                </a:solidFill>
                <a:latin typeface="Aptos Display"/>
                <a:ea typeface="Aptos Display"/>
                <a:cs typeface="Aptos Display"/>
              </a:rPr>
              <a:t>Device sensors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A3E1A67A-80BB-48E4-B766-4652FADE5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572000"/>
            <a:ext cx="4095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B7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6B78"/>
                </a:solidFill>
                <a:latin typeface="Aptos"/>
                <a:ea typeface="Aptos"/>
                <a:cs typeface="Aptos"/>
              </a:rPr>
              <a:t>Accelerometer tilt and shake plus proximity events provide no-touch shortcuts.</a:t>
            </a:r>
          </a:p>
        </p:txBody>
      </p:sp>
      <p:sp>
        <p:nvSpPr>
          <p:cNvPr id="17" name="shape">
            <a:extLst xmlns:a="http://schemas.openxmlformats.org/drawingml/2006/main">
              <a:ext uri="{FF2B5EF4-FFF2-40B4-BE49-F238E27FC236}">
                <a16:creationId xmlns:a16="http://schemas.microsoft.com/office/drawing/2014/main" id="{180540E1-8474-420D-81DE-F7917B92F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48100"/>
            <a:ext cx="5391150" cy="1866900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FDEB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E7579594-1E57-48D6-B8F3-6BDE43D23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057650"/>
            <a:ext cx="495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87E8B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087E8B"/>
                </a:solidFill>
                <a:latin typeface="Aptos Display"/>
                <a:ea typeface="Aptos Display"/>
                <a:cs typeface="Aptos Display"/>
              </a:rPr>
              <a:t>04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4C70F4F6-1039-4046-98F2-8C07B7E33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07670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5202B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15202B"/>
                </a:solidFill>
                <a:latin typeface="Aptos Display"/>
                <a:ea typeface="Aptos Display"/>
                <a:cs typeface="Aptos Display"/>
              </a:rPr>
              <a:t>Safety services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28745ECF-8728-47CB-9400-81913C4E9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572000"/>
            <a:ext cx="4095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B7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6B78"/>
                </a:solidFill>
                <a:latin typeface="Aptos"/>
                <a:ea typeface="Aptos"/>
                <a:cs typeface="Aptos"/>
              </a:rPr>
              <a:t>Foreground camera/location services support control continuity and location email.</a:t>
            </a:r>
          </a:p>
        </p:txBody>
      </p:sp>
    </p:spTree>
    <p:extLst>
      <p:ext uri="{BB962C8B-B14F-4D97-AF65-F5344CB8AC3E}">
        <p14:creationId xmlns:p14="http://schemas.microsoft.com/office/powerpoint/2010/main" val="207458835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58E8EFF9-9EFD-49E2-90AA-DB08F046F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87E8B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087E8B"/>
                </a:solidFill>
                <a:latin typeface="Aptos Display"/>
                <a:ea typeface="Aptos Display"/>
                <a:cs typeface="Aptos Display"/>
              </a:rPr>
              <a:t>SYSTEM DESIGN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0B23EB6-6202-47CB-B90D-66077DD0D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5202B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5202B"/>
                </a:solidFill>
                <a:latin typeface="Aptos Display"/>
                <a:ea typeface="Aptos Display"/>
                <a:cs typeface="Aptos Display"/>
              </a:rPr>
              <a:t>Architecture converts human intent into Android actions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94F55822-2D19-4F19-9385-0B22E87EC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29118E0-F710-4B5F-8CDB-3DDF2ADFE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D6B78"/>
                </a:solidFill>
                <a:latin typeface="Aptos Display"/>
                <a:ea typeface="Aptos Display"/>
                <a:cs typeface="Aptos Display"/>
              </a:defRPr>
            </a:pPr>
            <a:r>
              <a:rPr sz="750" b="1">
                <a:solidFill>
                  <a:srgbClr val="5D6B78"/>
                </a:solidFill>
                <a:latin typeface="Aptos Display"/>
                <a:ea typeface="Aptos Display"/>
                <a:cs typeface="Aptos Display"/>
              </a:rPr>
              <a:t>03</a:t>
            </a:r>
          </a:p>
        </p:txBody>
      </p:sp>
      <p:sp>
        <p:nvSpPr>
          <p:cNvPr id="5" name="INPUT">
            <a:extLst xmlns:a="http://schemas.openxmlformats.org/drawingml/2006/main">
              <a:ext uri="{FF2B5EF4-FFF2-40B4-BE49-F238E27FC236}">
                <a16:creationId xmlns:a16="http://schemas.microsoft.com/office/drawing/2014/main" id="{48869960-6778-42C0-84AD-5C25F7102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809750"/>
            <a:ext cx="1809750" cy="373380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5DD"/>
            </a:solidFill>
            <a:prstDash val="solid"/>
          </a:ln>
        </p:spPr>
      </p:sp>
      <p:sp>
        <p:nvSpPr>
          <p:cNvPr id="6" name="shape">
            <a:extLst xmlns:a="http://schemas.openxmlformats.org/drawingml/2006/main">
              <a:ext uri="{FF2B5EF4-FFF2-40B4-BE49-F238E27FC236}">
                <a16:creationId xmlns:a16="http://schemas.microsoft.com/office/drawing/2014/main" id="{A32CB801-574D-4C3D-B3A3-5286CEAB5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809750"/>
            <a:ext cx="1809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7F5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CA569803-8FA4-4A24-B35C-6DC79E4BF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1981200"/>
            <a:ext cx="1581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5202B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5202B"/>
                </a:solidFill>
                <a:latin typeface="Aptos Display"/>
                <a:ea typeface="Aptos Display"/>
                <a:cs typeface="Aptos Display"/>
              </a:rPr>
              <a:t>INPUT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EA04E7-4BDB-4C29-9D04-9FDD5418B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6860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A5F"/>
          </a:solidFill>
          <a:ln xmlns:a="http://schemas.openxmlformats.org/drawingml/2006/main" w="0">
            <a:solidFill>
              <a:srgbClr val="FF5A5F"/>
            </a:solidFill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72D7CFA9-990C-4A72-877A-AE981EE93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2600325"/>
            <a:ext cx="1219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202B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5202B"/>
                </a:solidFill>
                <a:latin typeface="Aptos Display"/>
                <a:ea typeface="Aptos Display"/>
                <a:cs typeface="Aptos Display"/>
              </a:rPr>
              <a:t>Microphone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20AC3D-A8DD-4C86-8968-0080402BC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3147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solidFill>
              <a:srgbClr val="087E8B"/>
            </a:solidFill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EAF0FD86-1E69-4F2D-B00F-14C74F515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228975"/>
            <a:ext cx="1219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520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5202B"/>
                </a:solidFill>
                <a:latin typeface="Aptos"/>
                <a:ea typeface="Aptos"/>
                <a:cs typeface="Aptos"/>
              </a:rPr>
              <a:t>Front camera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77E28C-491B-4919-A122-8B4A1C14A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9433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solidFill>
              <a:srgbClr val="087E8B"/>
            </a:solidFill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C722957E-ADFC-4084-AE95-FD52C10F9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857625"/>
            <a:ext cx="1219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520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5202B"/>
                </a:solidFill>
                <a:latin typeface="Aptos"/>
                <a:ea typeface="Aptos"/>
                <a:cs typeface="Aptos"/>
              </a:rPr>
              <a:t>Motion sensors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1002F1-5A43-4E2D-9AA9-67C92A2DA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5720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solidFill>
              <a:srgbClr val="087E8B"/>
            </a:solidFill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D5FDA361-17C1-49B3-A525-7E488FF2D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486275"/>
            <a:ext cx="1219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520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5202B"/>
                </a:solidFill>
                <a:latin typeface="Aptos"/>
                <a:ea typeface="Aptos"/>
                <a:cs typeface="Aptos"/>
              </a:rPr>
              <a:t>Secret code</a:t>
            </a:r>
          </a:p>
        </p:txBody>
      </p:sp>
      <p:sp>
        <p:nvSpPr>
          <p:cNvPr id="16" name="INTERPRET">
            <a:extLst xmlns:a="http://schemas.openxmlformats.org/drawingml/2006/main">
              <a:ext uri="{FF2B5EF4-FFF2-40B4-BE49-F238E27FC236}">
                <a16:creationId xmlns:a16="http://schemas.microsoft.com/office/drawing/2014/main" id="{018D81FB-4DB6-4BF5-B4DB-43EC70DC6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1809750"/>
            <a:ext cx="1809750" cy="373380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5DD"/>
            </a:solidFill>
            <a:prstDash val="solid"/>
          </a:ln>
        </p:spPr>
      </p:sp>
      <p:sp>
        <p:nvSpPr>
          <p:cNvPr id="17" name="shape">
            <a:extLst xmlns:a="http://schemas.openxmlformats.org/drawingml/2006/main">
              <a:ext uri="{FF2B5EF4-FFF2-40B4-BE49-F238E27FC236}">
                <a16:creationId xmlns:a16="http://schemas.microsoft.com/office/drawing/2014/main" id="{BE292D6A-9C4C-4D3D-B589-174EFEB8A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1809750"/>
            <a:ext cx="1809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AF1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1C35BADE-BE5B-43B6-A0C3-4CB836F1E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1981200"/>
            <a:ext cx="1581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5202B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5202B"/>
                </a:solidFill>
                <a:latin typeface="Aptos Display"/>
                <a:ea typeface="Aptos Display"/>
                <a:cs typeface="Aptos Display"/>
              </a:rPr>
              <a:t>INTERPRET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8FAF48F-3904-43D2-B57B-73547B2A8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6860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A5F"/>
          </a:solidFill>
          <a:ln xmlns:a="http://schemas.openxmlformats.org/drawingml/2006/main" w="0">
            <a:solidFill>
              <a:srgbClr val="FF5A5F"/>
            </a:solidFill>
            <a:prstDash val="solid"/>
          </a:ln>
        </p:spPr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BC1AA253-4D20-40B1-B478-0F8EE2CFC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2600325"/>
            <a:ext cx="1219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202B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5202B"/>
                </a:solidFill>
                <a:latin typeface="Aptos Display"/>
                <a:ea typeface="Aptos Display"/>
                <a:cs typeface="Aptos Display"/>
              </a:rPr>
              <a:t>Speech parsing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13A32C6-48A1-4194-95F2-34C690A7A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3147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solidFill>
              <a:srgbClr val="087E8B"/>
            </a:solidFill>
            <a:prstDash val="solid"/>
          </a:ln>
        </p:spPr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2B7A9CA7-7F74-42D2-BFB0-61E13E6EA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3228975"/>
            <a:ext cx="1219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520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5202B"/>
                </a:solidFill>
                <a:latin typeface="Aptos"/>
                <a:ea typeface="Aptos"/>
                <a:cs typeface="Aptos"/>
              </a:rPr>
              <a:t>MediaPipe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225BC13-EA8F-47DC-A577-1216FFA00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9433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solidFill>
              <a:srgbClr val="087E8B"/>
            </a:solidFill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B1C76D1F-9EC9-4D4F-AD1B-E7689EA6F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3857625"/>
            <a:ext cx="1219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520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5202B"/>
                </a:solidFill>
                <a:latin typeface="Aptos"/>
                <a:ea typeface="Aptos"/>
                <a:cs typeface="Aptos"/>
              </a:rPr>
              <a:t>Swipe logic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685BC93-C7A4-447B-AE1C-4612E5D31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45720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solidFill>
              <a:srgbClr val="087E8B"/>
            </a:solidFill>
            <a:prstDash val="solid"/>
          </a:ln>
        </p:spPr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CA7E0BAF-E048-4EE0-AF5A-E78944FDE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4486275"/>
            <a:ext cx="1219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520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5202B"/>
                </a:solidFill>
                <a:latin typeface="Aptos"/>
                <a:ea typeface="Aptos"/>
                <a:cs typeface="Aptos"/>
              </a:rPr>
              <a:t>Sensor thresholds</a:t>
            </a:r>
          </a:p>
        </p:txBody>
      </p:sp>
      <p:sp>
        <p:nvSpPr>
          <p:cNvPr id="27" name="ORCHESTRATE">
            <a:extLst xmlns:a="http://schemas.openxmlformats.org/drawingml/2006/main">
              <a:ext uri="{FF2B5EF4-FFF2-40B4-BE49-F238E27FC236}">
                <a16:creationId xmlns:a16="http://schemas.microsoft.com/office/drawing/2014/main" id="{A0052704-E09B-4886-9831-AFE1FC8D9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09750"/>
            <a:ext cx="1809750" cy="373380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5DD"/>
            </a:solidFill>
            <a:prstDash val="solid"/>
          </a:ln>
        </p:spPr>
      </p:sp>
      <p:sp>
        <p:nvSpPr>
          <p:cNvPr id="28" name="shape">
            <a:extLst xmlns:a="http://schemas.openxmlformats.org/drawingml/2006/main">
              <a:ext uri="{FF2B5EF4-FFF2-40B4-BE49-F238E27FC236}">
                <a16:creationId xmlns:a16="http://schemas.microsoft.com/office/drawing/2014/main" id="{59050291-A8B1-4DF3-96C7-6E0A2D5D8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09750"/>
            <a:ext cx="1809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2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34341C3D-7179-4598-8559-3B1FC911D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981200"/>
            <a:ext cx="1581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5202B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5202B"/>
                </a:solidFill>
                <a:latin typeface="Aptos Display"/>
                <a:ea typeface="Aptos Display"/>
                <a:cs typeface="Aptos Display"/>
              </a:rPr>
              <a:t>ORCHESTRATE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7EFA4A5-6922-4DF5-BCC7-0AA944F37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6860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A5F"/>
          </a:solidFill>
          <a:ln xmlns:a="http://schemas.openxmlformats.org/drawingml/2006/main" w="0">
            <a:solidFill>
              <a:srgbClr val="FF5A5F"/>
            </a:solidFill>
            <a:prstDash val="solid"/>
          </a:ln>
        </p:spPr>
      </p:sp>
      <p:sp>
        <p:nvSpPr>
          <p:cNvPr id="31" name="text">
            <a:extLst xmlns:a="http://schemas.openxmlformats.org/drawingml/2006/main">
              <a:ext uri="{FF2B5EF4-FFF2-40B4-BE49-F238E27FC236}">
                <a16:creationId xmlns:a16="http://schemas.microsoft.com/office/drawing/2014/main" id="{FEEB047A-0365-454F-9DCE-2D7C1E3F3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600325"/>
            <a:ext cx="1219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202B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5202B"/>
                </a:solidFill>
                <a:latin typeface="Aptos Display"/>
                <a:ea typeface="Aptos Display"/>
                <a:cs typeface="Aptos Display"/>
              </a:rPr>
              <a:t>MainActivity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27F269C-9FD2-4F1C-A884-3095D65B3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3147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solidFill>
              <a:srgbClr val="087E8B"/>
            </a:solidFill>
            <a:prstDash val="solid"/>
          </a:ln>
        </p:spPr>
      </p:sp>
      <p:sp>
        <p:nvSpPr>
          <p:cNvPr id="33" name="text">
            <a:extLst xmlns:a="http://schemas.openxmlformats.org/drawingml/2006/main">
              <a:ext uri="{FF2B5EF4-FFF2-40B4-BE49-F238E27FC236}">
                <a16:creationId xmlns:a16="http://schemas.microsoft.com/office/drawing/2014/main" id="{843CCF88-4471-4849-A947-B31F277BC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228975"/>
            <a:ext cx="1219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520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5202B"/>
                </a:solidFill>
                <a:latin typeface="Aptos"/>
                <a:ea typeface="Aptos"/>
                <a:cs typeface="Aptos"/>
              </a:rPr>
              <a:t>Gesture service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A443DC3-03BD-4949-94CA-C1B98E073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9433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solidFill>
              <a:srgbClr val="087E8B"/>
            </a:solidFill>
            <a:prstDash val="solid"/>
          </a:ln>
        </p:spPr>
      </p:sp>
      <p:sp>
        <p:nvSpPr>
          <p:cNvPr id="35" name="text">
            <a:extLst xmlns:a="http://schemas.openxmlformats.org/drawingml/2006/main">
              <a:ext uri="{FF2B5EF4-FFF2-40B4-BE49-F238E27FC236}">
                <a16:creationId xmlns:a16="http://schemas.microsoft.com/office/drawing/2014/main" id="{EF8436D7-A42B-4F4A-9043-B49B390A4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857625"/>
            <a:ext cx="1219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520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5202B"/>
                </a:solidFill>
                <a:latin typeface="Aptos"/>
                <a:ea typeface="Aptos"/>
                <a:cs typeface="Aptos"/>
              </a:rPr>
              <a:t>Tracking service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8EDE10F-59CA-4DE4-A3E1-9C00B49A3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5720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solidFill>
              <a:srgbClr val="087E8B"/>
            </a:solidFill>
            <a:prstDash val="solid"/>
          </a:ln>
        </p:spPr>
      </p:sp>
      <p:sp>
        <p:nvSpPr>
          <p:cNvPr id="37" name="text">
            <a:extLst xmlns:a="http://schemas.openxmlformats.org/drawingml/2006/main">
              <a:ext uri="{FF2B5EF4-FFF2-40B4-BE49-F238E27FC236}">
                <a16:creationId xmlns:a16="http://schemas.microsoft.com/office/drawing/2014/main" id="{177E2C34-9DEB-42FC-86F4-24A180696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486275"/>
            <a:ext cx="1219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520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5202B"/>
                </a:solidFill>
                <a:latin typeface="Aptos"/>
                <a:ea typeface="Aptos"/>
                <a:cs typeface="Aptos"/>
              </a:rPr>
              <a:t>Command mapping</a:t>
            </a:r>
          </a:p>
        </p:txBody>
      </p:sp>
      <p:sp>
        <p:nvSpPr>
          <p:cNvPr id="38" name="EXECUTE">
            <a:extLst xmlns:a="http://schemas.openxmlformats.org/drawingml/2006/main">
              <a:ext uri="{FF2B5EF4-FFF2-40B4-BE49-F238E27FC236}">
                <a16:creationId xmlns:a16="http://schemas.microsoft.com/office/drawing/2014/main" id="{5AD949F0-77E7-4F23-A06A-7B7C60FDF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809750"/>
            <a:ext cx="1809750" cy="373380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5DD"/>
            </a:solidFill>
            <a:prstDash val="solid"/>
          </a:ln>
        </p:spPr>
      </p:sp>
      <p:sp>
        <p:nvSpPr>
          <p:cNvPr id="39" name="shape">
            <a:extLst xmlns:a="http://schemas.openxmlformats.org/drawingml/2006/main">
              <a:ext uri="{FF2B5EF4-FFF2-40B4-BE49-F238E27FC236}">
                <a16:creationId xmlns:a16="http://schemas.microsoft.com/office/drawing/2014/main" id="{4AF5578C-0921-4F24-ADE7-CC75D7616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809750"/>
            <a:ext cx="1809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DEB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text">
            <a:extLst xmlns:a="http://schemas.openxmlformats.org/drawingml/2006/main">
              <a:ext uri="{FF2B5EF4-FFF2-40B4-BE49-F238E27FC236}">
                <a16:creationId xmlns:a16="http://schemas.microsoft.com/office/drawing/2014/main" id="{F7D91899-01DD-4853-8B84-537EADE7B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1981200"/>
            <a:ext cx="1581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5202B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5202B"/>
                </a:solidFill>
                <a:latin typeface="Aptos Display"/>
                <a:ea typeface="Aptos Display"/>
                <a:cs typeface="Aptos Display"/>
              </a:rPr>
              <a:t>EXECUTE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79F2FA3-9F20-49DD-8F34-E15D51510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6860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A5F"/>
          </a:solidFill>
          <a:ln xmlns:a="http://schemas.openxmlformats.org/drawingml/2006/main" w="0">
            <a:solidFill>
              <a:srgbClr val="FF5A5F"/>
            </a:solidFill>
            <a:prstDash val="solid"/>
          </a:ln>
        </p:spPr>
      </p:sp>
      <p:sp>
        <p:nvSpPr>
          <p:cNvPr id="42" name="text">
            <a:extLst xmlns:a="http://schemas.openxmlformats.org/drawingml/2006/main">
              <a:ext uri="{FF2B5EF4-FFF2-40B4-BE49-F238E27FC236}">
                <a16:creationId xmlns:a16="http://schemas.microsoft.com/office/drawing/2014/main" id="{522956EF-2B82-4A24-835D-DCF20831D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2600325"/>
            <a:ext cx="1219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202B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5202B"/>
                </a:solidFill>
                <a:latin typeface="Aptos Display"/>
                <a:ea typeface="Aptos Display"/>
                <a:cs typeface="Aptos Display"/>
              </a:rPr>
              <a:t>Accessibility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CF36A4F-E991-477C-BDD1-C36C3BCF4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3147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solidFill>
              <a:srgbClr val="087E8B"/>
            </a:solidFill>
            <a:prstDash val="solid"/>
          </a:ln>
        </p:spPr>
      </p:sp>
      <p:sp>
        <p:nvSpPr>
          <p:cNvPr id="44" name="text">
            <a:extLst xmlns:a="http://schemas.openxmlformats.org/drawingml/2006/main">
              <a:ext uri="{FF2B5EF4-FFF2-40B4-BE49-F238E27FC236}">
                <a16:creationId xmlns:a16="http://schemas.microsoft.com/office/drawing/2014/main" id="{2EF17555-C2DE-4F9E-94FD-B58FA2CC6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3228975"/>
            <a:ext cx="1219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520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5202B"/>
                </a:solidFill>
                <a:latin typeface="Aptos"/>
                <a:ea typeface="Aptos"/>
                <a:cs typeface="Aptos"/>
              </a:rPr>
              <a:t>Media keys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7DC4808-8DB0-46E2-9B07-D5B77F2ED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9433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solidFill>
              <a:srgbClr val="087E8B"/>
            </a:solidFill>
            <a:prstDash val="solid"/>
          </a:ln>
        </p:spPr>
      </p:sp>
      <p:sp>
        <p:nvSpPr>
          <p:cNvPr id="46" name="text">
            <a:extLst xmlns:a="http://schemas.openxmlformats.org/drawingml/2006/main">
              <a:ext uri="{FF2B5EF4-FFF2-40B4-BE49-F238E27FC236}">
                <a16:creationId xmlns:a16="http://schemas.microsoft.com/office/drawing/2014/main" id="{BDCB661D-B043-47DE-BA8F-13E617E7B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3857625"/>
            <a:ext cx="1219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520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5202B"/>
                </a:solidFill>
                <a:latin typeface="Aptos"/>
                <a:ea typeface="Aptos"/>
                <a:cs typeface="Aptos"/>
              </a:rPr>
              <a:t>Telecom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71607F3-BF97-452E-9267-03EAE60AB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5720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solidFill>
              <a:srgbClr val="087E8B"/>
            </a:solidFill>
            <a:prstDash val="solid"/>
          </a:ln>
        </p:spPr>
      </p:sp>
      <p:sp>
        <p:nvSpPr>
          <p:cNvPr id="48" name="text">
            <a:extLst xmlns:a="http://schemas.openxmlformats.org/drawingml/2006/main">
              <a:ext uri="{FF2B5EF4-FFF2-40B4-BE49-F238E27FC236}">
                <a16:creationId xmlns:a16="http://schemas.microsoft.com/office/drawing/2014/main" id="{F5162719-895A-4DAE-B2E4-F05DF42D9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4486275"/>
            <a:ext cx="1219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520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5202B"/>
                </a:solidFill>
                <a:latin typeface="Aptos"/>
                <a:ea typeface="Aptos"/>
                <a:cs typeface="Aptos"/>
              </a:rPr>
              <a:t>SMTP + Maps URL</a:t>
            </a:r>
          </a:p>
        </p:txBody>
      </p:sp>
      <p:cxnSp>
        <p:nvCxnSpPr>
          <p:cNvPr id="103" name=""/>
          <p:cNvCxnSpPr>
            <a:stCxn xmlns:a="http://schemas.openxmlformats.org/drawingml/2006/main" id="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3333750" y="3676650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E8B"/>
            </a:solidFill>
            <a:prstDash val="solid"/>
            <a:headEnd type="arrow" w="med" len="med"/>
          </a:ln>
        </p:spPr>
      </p:cxnSp>
      <p:cxnSp>
        <p:nvCxnSpPr>
          <p:cNvPr id="104" name=""/>
          <p:cNvCxnSpPr>
            <a:stCxn xmlns:a="http://schemas.openxmlformats.org/drawingml/2006/main" id="16" idx="3"/>
            <a:endCxn xmlns:a="http://schemas.openxmlformats.org/drawingml/2006/main" id="27" idx="1"/>
          </p:cNvCxnSpPr>
          <p:nvPr/>
        </p:nvCxnSpPr>
        <p:spPr>
          <a:xfrm xmlns:a="http://schemas.openxmlformats.org/drawingml/2006/main">
            <a:off x="5476875" y="3676650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E8B"/>
            </a:solidFill>
            <a:prstDash val="solid"/>
            <a:headEnd type="arrow" w="med" len="med"/>
          </a:ln>
        </p:spPr>
      </p:cxnSp>
      <p:cxnSp>
        <p:nvCxnSpPr>
          <p:cNvPr id="105" name=""/>
          <p:cNvCxnSpPr>
            <a:stCxn xmlns:a="http://schemas.openxmlformats.org/drawingml/2006/main" id="27" idx="3"/>
            <a:endCxn xmlns:a="http://schemas.openxmlformats.org/drawingml/2006/main" id="38" idx="1"/>
          </p:cNvCxnSpPr>
          <p:nvPr/>
        </p:nvCxnSpPr>
        <p:spPr>
          <a:xfrm xmlns:a="http://schemas.openxmlformats.org/drawingml/2006/main">
            <a:off x="7620000" y="3676650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E8B"/>
            </a:solidFill>
            <a:prstDash val="solid"/>
            <a:headEnd type="arrow" w="med" len="med"/>
          </a:ln>
        </p:spPr>
      </p:cxnSp>
      <p:sp>
        <p:nvSpPr>
          <p:cNvPr id="52" name="shape">
            <a:extLst xmlns:a="http://schemas.openxmlformats.org/drawingml/2006/main">
              <a:ext uri="{FF2B5EF4-FFF2-40B4-BE49-F238E27FC236}">
                <a16:creationId xmlns:a16="http://schemas.microsoft.com/office/drawing/2014/main" id="{1190FEA6-3ECA-45EF-84BC-16FB6D91E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809750"/>
            <a:ext cx="1485900" cy="37338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1520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text">
            <a:extLst xmlns:a="http://schemas.openxmlformats.org/drawingml/2006/main">
              <a:ext uri="{FF2B5EF4-FFF2-40B4-BE49-F238E27FC236}">
                <a16:creationId xmlns:a16="http://schemas.microsoft.com/office/drawing/2014/main" id="{33ADD42A-BF23-4E97-9E95-411E1C3C6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2095500"/>
            <a:ext cx="114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TRUST</a:t>
            </a:r>
          </a:p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BOUNDARY</a:t>
            </a:r>
          </a:p>
        </p:txBody>
      </p:sp>
      <p:sp>
        <p:nvSpPr>
          <p:cNvPr id="54" name="text">
            <a:extLst xmlns:a="http://schemas.openxmlformats.org/drawingml/2006/main">
              <a:ext uri="{FF2B5EF4-FFF2-40B4-BE49-F238E27FC236}">
                <a16:creationId xmlns:a16="http://schemas.microsoft.com/office/drawing/2014/main" id="{1CCEFD8D-F62E-4748-B6D6-05F8C391B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933700"/>
            <a:ext cx="11239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Runtime permissions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1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Accessibility opt-in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1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Foreground notices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1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Local secrets excluded from Git</a:t>
            </a:r>
          </a:p>
        </p:txBody>
      </p:sp>
    </p:spTree>
    <p:extLst>
      <p:ext uri="{BB962C8B-B14F-4D97-AF65-F5344CB8AC3E}">
        <p14:creationId xmlns:p14="http://schemas.microsoft.com/office/powerpoint/2010/main" val="118288876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47B412DA-EF78-4060-9EC7-FE2A26D98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87E8B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087E8B"/>
                </a:solidFill>
                <a:latin typeface="Aptos Display"/>
                <a:ea typeface="Aptos Display"/>
                <a:cs typeface="Aptos Display"/>
              </a:rPr>
              <a:t>AIR GESTURE ENGINE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B487F05-FAE0-439C-BCF1-21CF07863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5202B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5202B"/>
                </a:solidFill>
                <a:latin typeface="Aptos Display"/>
                <a:ea typeface="Aptos Display"/>
                <a:cs typeface="Aptos Display"/>
              </a:rPr>
              <a:t>Camera frames become actions in five real-time stages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7E7C2C75-8D15-40C8-87E9-49B762C20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610AF936-5246-4706-9975-4F572D236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D6B78"/>
                </a:solidFill>
                <a:latin typeface="Aptos Display"/>
                <a:ea typeface="Aptos Display"/>
                <a:cs typeface="Aptos Display"/>
              </a:defRPr>
            </a:pPr>
            <a:r>
              <a:rPr sz="750" b="1">
                <a:solidFill>
                  <a:srgbClr val="5D6B78"/>
                </a:solidFill>
                <a:latin typeface="Aptos Display"/>
                <a:ea typeface="Aptos Display"/>
                <a:cs typeface="Aptos Display"/>
              </a:rPr>
              <a:t>04</a:t>
            </a:r>
          </a:p>
        </p:txBody>
      </p:sp>
      <p:sp>
        <p:nvSpPr>
          <p:cNvPr id="5" name="stage-1">
            <a:extLst xmlns:a="http://schemas.openxmlformats.org/drawingml/2006/main">
              <a:ext uri="{FF2B5EF4-FFF2-40B4-BE49-F238E27FC236}">
                <a16:creationId xmlns:a16="http://schemas.microsoft.com/office/drawing/2014/main" id="{792BF1ED-D560-4E24-A9DF-D6E1B1497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1809750" cy="304800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E7F5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5A9427-2C0C-49D1-B9DE-6347C8EC9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16192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solidFill>
              <a:srgbClr val="087E8B"/>
            </a:solidFill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48CBDDAA-04A0-4EA3-B9A8-061B75048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77165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1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597FA9DC-F5BA-417A-AEFB-F196F3A31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05050"/>
            <a:ext cx="1466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5202B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5202B"/>
                </a:solidFill>
                <a:latin typeface="Aptos Display"/>
                <a:ea typeface="Aptos Display"/>
                <a:cs typeface="Aptos Display"/>
              </a:rPr>
              <a:t>Capture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50A9CF56-A69C-4E01-A921-8768FD4E4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76550"/>
            <a:ext cx="142875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D6B7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D6B78"/>
                </a:solidFill>
                <a:latin typeface="Aptos"/>
                <a:ea typeface="Aptos"/>
                <a:cs typeface="Aptos"/>
              </a:rPr>
              <a:t>CameraX uses the front camera and keeps only the latest frame.</a:t>
            </a:r>
          </a:p>
        </p:txBody>
      </p:sp>
      <p:sp>
        <p:nvSpPr>
          <p:cNvPr id="10" name="stage-2">
            <a:extLst xmlns:a="http://schemas.openxmlformats.org/drawingml/2006/main">
              <a:ext uri="{FF2B5EF4-FFF2-40B4-BE49-F238E27FC236}">
                <a16:creationId xmlns:a16="http://schemas.microsoft.com/office/drawing/2014/main" id="{40BC1400-C78F-468B-A226-EDB44A5D0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1981200"/>
            <a:ext cx="1809750" cy="304800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EAF1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CDB142-FA0E-41C3-B4EB-E26BA1CA1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16192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solidFill>
              <a:srgbClr val="087E8B"/>
            </a:solidFill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E9CD7338-640C-4ED8-8AB8-7E7FCB5BF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177165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2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AECE3B46-E8C6-41A4-9ECF-C71D4C9D4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305050"/>
            <a:ext cx="1466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5202B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5202B"/>
                </a:solidFill>
                <a:latin typeface="Aptos Display"/>
                <a:ea typeface="Aptos Display"/>
                <a:cs typeface="Aptos Display"/>
              </a:rPr>
              <a:t>Prepare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5EC54FFD-1E9D-4722-ADBF-7660A5603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876550"/>
            <a:ext cx="142875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D6B7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D6B78"/>
                </a:solidFill>
                <a:latin typeface="Aptos"/>
                <a:ea typeface="Aptos"/>
                <a:cs typeface="Aptos"/>
              </a:rPr>
              <a:t>ImageProxy YUV data is converted to a rotated MediaPipe image.</a:t>
            </a:r>
          </a:p>
        </p:txBody>
      </p:sp>
      <p:sp>
        <p:nvSpPr>
          <p:cNvPr id="15" name="stage-3">
            <a:extLst xmlns:a="http://schemas.openxmlformats.org/drawingml/2006/main">
              <a:ext uri="{FF2B5EF4-FFF2-40B4-BE49-F238E27FC236}">
                <a16:creationId xmlns:a16="http://schemas.microsoft.com/office/drawing/2014/main" id="{D423C45B-108F-424A-9857-15CE092C5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981200"/>
            <a:ext cx="1809750" cy="304800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E7F5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F6CD07-9655-408E-8663-CDE665338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16192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solidFill>
              <a:srgbClr val="087E8B"/>
            </a:solidFill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3FFB3CBC-20F1-4235-A5B9-F1910EF47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725" y="177165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3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F548B498-F65D-4BC4-9EC0-3F160233C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305050"/>
            <a:ext cx="1466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5202B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5202B"/>
                </a:solidFill>
                <a:latin typeface="Aptos Display"/>
                <a:ea typeface="Aptos Display"/>
                <a:cs typeface="Aptos Display"/>
              </a:rPr>
              <a:t>Recognize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891D33AF-3979-469A-A581-6AD23D640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876550"/>
            <a:ext cx="142875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D6B7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D6B78"/>
                </a:solidFill>
                <a:latin typeface="Aptos"/>
                <a:ea typeface="Aptos"/>
                <a:cs typeface="Aptos"/>
              </a:rPr>
              <a:t>GestureRecognizer finds one hand, categories, and landmarks.</a:t>
            </a:r>
          </a:p>
        </p:txBody>
      </p:sp>
      <p:sp>
        <p:nvSpPr>
          <p:cNvPr id="20" name="stage-4">
            <a:extLst xmlns:a="http://schemas.openxmlformats.org/drawingml/2006/main">
              <a:ext uri="{FF2B5EF4-FFF2-40B4-BE49-F238E27FC236}">
                <a16:creationId xmlns:a16="http://schemas.microsoft.com/office/drawing/2014/main" id="{FB40858B-8C21-456A-BEEB-1DA9EC6EA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981200"/>
            <a:ext cx="1809750" cy="304800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EAF1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B2487DD-9ED0-4A28-A5F6-5D025C5B7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16192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solidFill>
              <a:srgbClr val="087E8B"/>
            </a:solidFill>
            <a:prstDash val="solid"/>
          </a:ln>
        </p:spPr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A2CA4F0D-8DBD-4135-8287-5074633E6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177165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4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955C6694-516E-4543-88B9-A85BC2D20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305050"/>
            <a:ext cx="1466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5202B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5202B"/>
                </a:solidFill>
                <a:latin typeface="Aptos Display"/>
                <a:ea typeface="Aptos Display"/>
                <a:cs typeface="Aptos Display"/>
              </a:rPr>
              <a:t>Classify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97236DBC-5CD5-44B8-B8F4-C19D30DCB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876550"/>
            <a:ext cx="142875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D6B7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D6B78"/>
                </a:solidFill>
                <a:latin typeface="Aptos"/>
                <a:ea typeface="Aptos"/>
                <a:cs typeface="Aptos"/>
              </a:rPr>
              <a:t>Palm/fist scores and hand-center displacement identify intent.</a:t>
            </a:r>
          </a:p>
        </p:txBody>
      </p:sp>
      <p:sp>
        <p:nvSpPr>
          <p:cNvPr id="25" name="stage-5">
            <a:extLst xmlns:a="http://schemas.openxmlformats.org/drawingml/2006/main">
              <a:ext uri="{FF2B5EF4-FFF2-40B4-BE49-F238E27FC236}">
                <a16:creationId xmlns:a16="http://schemas.microsoft.com/office/drawing/2014/main" id="{AFB02C34-3EB4-4CB3-8BF9-59AB27005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981200"/>
            <a:ext cx="1809750" cy="304800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E7F5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D339991-EB28-4630-92C9-6F9F39924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16192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A5F"/>
          </a:solidFill>
          <a:ln xmlns:a="http://schemas.openxmlformats.org/drawingml/2006/main" w="0">
            <a:solidFill>
              <a:srgbClr val="FF5A5F"/>
            </a:solidFill>
            <a:prstDash val="solid"/>
          </a:ln>
        </p:spPr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ED2A3CA4-A28D-462F-AEE7-10F670809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177165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5</a:t>
            </a:r>
          </a:p>
        </p:txBody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9E50544C-E811-4F7E-9993-DB7DE3E40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305050"/>
            <a:ext cx="1466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5202B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5202B"/>
                </a:solidFill>
                <a:latin typeface="Aptos Display"/>
                <a:ea typeface="Aptos Display"/>
                <a:cs typeface="Aptos Display"/>
              </a:rPr>
              <a:t>Act</a:t>
            </a:r>
          </a:p>
        </p:txBody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5D8BF2B6-3C94-4950-8E39-8B605FF83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876550"/>
            <a:ext cx="142875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D6B7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D6B78"/>
                </a:solidFill>
                <a:latin typeface="Aptos"/>
                <a:ea typeface="Aptos"/>
                <a:cs typeface="Aptos"/>
              </a:rPr>
              <a:t>Cooldown-filtered events become accessibility or media commands.</a:t>
            </a:r>
          </a:p>
        </p:txBody>
      </p:sp>
      <p:cxnSp>
        <p:nvCxnSpPr>
          <p:cNvPr id="71" name=""/>
          <p:cNvCxnSpPr>
            <a:stCxn xmlns:a="http://schemas.openxmlformats.org/drawingml/2006/main" id="5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2419350" y="3505200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E8B"/>
            </a:solidFill>
            <a:prstDash val="solid"/>
            <a:headEnd type="arrow" w="med" len="med"/>
          </a:ln>
        </p:spPr>
      </p:cxnSp>
      <p:cxnSp>
        <p:nvCxnSpPr>
          <p:cNvPr id="72" name=""/>
          <p:cNvCxnSpPr>
            <a:stCxn xmlns:a="http://schemas.openxmlformats.org/drawingml/2006/main" id="10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4629150" y="3505200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E8B"/>
            </a:solidFill>
            <a:prstDash val="solid"/>
            <a:headEnd type="arrow" w="med" len="med"/>
          </a:ln>
        </p:spPr>
      </p:cxnSp>
      <p:cxnSp>
        <p:nvCxnSpPr>
          <p:cNvPr id="73" name=""/>
          <p:cNvCxnSpPr>
            <a:stCxn xmlns:a="http://schemas.openxmlformats.org/drawingml/2006/main" id="15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6838950" y="3505200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E8B"/>
            </a:solidFill>
            <a:prstDash val="solid"/>
            <a:headEnd type="arrow" w="med" len="med"/>
          </a:ln>
        </p:spPr>
      </p:cxnSp>
      <p:cxnSp>
        <p:nvCxnSpPr>
          <p:cNvPr id="74" name=""/>
          <p:cNvCxnSpPr>
            <a:stCxn xmlns:a="http://schemas.openxmlformats.org/drawingml/2006/main" id="20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9048750" y="3505200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E8B"/>
            </a:solidFill>
            <a:prstDash val="solid"/>
            <a:headEnd type="arrow" w="med" len="med"/>
          </a:ln>
        </p:spPr>
      </p:cxnSp>
      <p:sp>
        <p:nvSpPr>
          <p:cNvPr id="34" name="pill-VIDEO mode">
            <a:extLst xmlns:a="http://schemas.openxmlformats.org/drawingml/2006/main">
              <a:ext uri="{FF2B5EF4-FFF2-40B4-BE49-F238E27FC236}">
                <a16:creationId xmlns:a16="http://schemas.microsoft.com/office/drawing/2014/main" id="{6B48ED42-DBC3-4942-A32E-821602515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467350"/>
            <a:ext cx="12763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AF1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text">
            <a:extLst xmlns:a="http://schemas.openxmlformats.org/drawingml/2006/main">
              <a:ext uri="{FF2B5EF4-FFF2-40B4-BE49-F238E27FC236}">
                <a16:creationId xmlns:a16="http://schemas.microsoft.com/office/drawing/2014/main" id="{1EE33850-8F8A-476B-87D9-A658BBD35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5534025"/>
            <a:ext cx="1123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5202B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15202B"/>
                </a:solidFill>
                <a:latin typeface="Aptos Display"/>
                <a:ea typeface="Aptos Display"/>
                <a:cs typeface="Aptos Display"/>
              </a:rPr>
              <a:t>VIDEO mode</a:t>
            </a:r>
          </a:p>
        </p:txBody>
      </p:sp>
      <p:sp>
        <p:nvSpPr>
          <p:cNvPr id="36" name="pill-One hand">
            <a:extLst xmlns:a="http://schemas.openxmlformats.org/drawingml/2006/main">
              <a:ext uri="{FF2B5EF4-FFF2-40B4-BE49-F238E27FC236}">
                <a16:creationId xmlns:a16="http://schemas.microsoft.com/office/drawing/2014/main" id="{2D542253-2CD2-40BD-9645-391282135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5467350"/>
            <a:ext cx="11049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7F5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text">
            <a:extLst xmlns:a="http://schemas.openxmlformats.org/drawingml/2006/main">
              <a:ext uri="{FF2B5EF4-FFF2-40B4-BE49-F238E27FC236}">
                <a16:creationId xmlns:a16="http://schemas.microsoft.com/office/drawing/2014/main" id="{22BBF045-4FDF-47D9-83DE-A3B51C5E1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5534025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5202B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15202B"/>
                </a:solidFill>
                <a:latin typeface="Aptos Display"/>
                <a:ea typeface="Aptos Display"/>
                <a:cs typeface="Aptos Display"/>
              </a:rPr>
              <a:t>One hand</a:t>
            </a:r>
          </a:p>
        </p:txBody>
      </p:sp>
      <p:sp>
        <p:nvSpPr>
          <p:cNvPr id="38" name="pill-Confidence threshold">
            <a:extLst xmlns:a="http://schemas.openxmlformats.org/drawingml/2006/main">
              <a:ext uri="{FF2B5EF4-FFF2-40B4-BE49-F238E27FC236}">
                <a16:creationId xmlns:a16="http://schemas.microsoft.com/office/drawing/2014/main" id="{2011B339-A682-42E7-8CDC-E67EF56F8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467350"/>
            <a:ext cx="1809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2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text">
            <a:extLst xmlns:a="http://schemas.openxmlformats.org/drawingml/2006/main">
              <a:ext uri="{FF2B5EF4-FFF2-40B4-BE49-F238E27FC236}">
                <a16:creationId xmlns:a16="http://schemas.microsoft.com/office/drawing/2014/main" id="{6E87EA54-68FC-49DB-8501-EF7F86E72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534025"/>
            <a:ext cx="1657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5202B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15202B"/>
                </a:solidFill>
                <a:latin typeface="Aptos Display"/>
                <a:ea typeface="Aptos Display"/>
                <a:cs typeface="Aptos Display"/>
              </a:rPr>
              <a:t>Confidence threshold</a:t>
            </a:r>
          </a:p>
        </p:txBody>
      </p:sp>
      <p:sp>
        <p:nvSpPr>
          <p:cNvPr id="40" name="pill-Cooldown">
            <a:extLst xmlns:a="http://schemas.openxmlformats.org/drawingml/2006/main">
              <a:ext uri="{FF2B5EF4-FFF2-40B4-BE49-F238E27FC236}">
                <a16:creationId xmlns:a16="http://schemas.microsoft.com/office/drawing/2014/main" id="{673D45AA-F964-42C9-9B7B-6BBD8CA65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467350"/>
            <a:ext cx="11239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DEB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text">
            <a:extLst xmlns:a="http://schemas.openxmlformats.org/drawingml/2006/main">
              <a:ext uri="{FF2B5EF4-FFF2-40B4-BE49-F238E27FC236}">
                <a16:creationId xmlns:a16="http://schemas.microsoft.com/office/drawing/2014/main" id="{63730E7E-A3E2-46D3-824E-006CABD43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534025"/>
            <a:ext cx="971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5202B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15202B"/>
                </a:solidFill>
                <a:latin typeface="Aptos Display"/>
                <a:ea typeface="Aptos Display"/>
                <a:cs typeface="Aptos Display"/>
              </a:rPr>
              <a:t>Cooldown</a:t>
            </a:r>
          </a:p>
        </p:txBody>
      </p:sp>
    </p:spTree>
    <p:extLst>
      <p:ext uri="{BB962C8B-B14F-4D97-AF65-F5344CB8AC3E}">
        <p14:creationId xmlns:p14="http://schemas.microsoft.com/office/powerpoint/2010/main" val="154476921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BC3F20F6-48C0-4671-A471-378B46AC0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87E8B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087E8B"/>
                </a:solidFill>
                <a:latin typeface="Aptos Display"/>
                <a:ea typeface="Aptos Display"/>
                <a:cs typeface="Aptos Display"/>
              </a:rPr>
              <a:t>CONTROL VOCABULARY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517334F6-0576-44D4-BC21-108D058C9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5202B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5202B"/>
                </a:solidFill>
                <a:latin typeface="Aptos Display"/>
                <a:ea typeface="Aptos Display"/>
                <a:cs typeface="Aptos Display"/>
              </a:rPr>
              <a:t>Six gestures map to predictable phone actions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6DF36F02-39DF-4AA5-8D68-DDCA83384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66B81867-3C99-4689-9B89-A6D297F49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D6B78"/>
                </a:solidFill>
                <a:latin typeface="Aptos Display"/>
                <a:ea typeface="Aptos Display"/>
                <a:cs typeface="Aptos Display"/>
              </a:defRPr>
            </a:pPr>
            <a:r>
              <a:rPr sz="750" b="1">
                <a:solidFill>
                  <a:srgbClr val="5D6B78"/>
                </a:solidFill>
                <a:latin typeface="Aptos Display"/>
                <a:ea typeface="Aptos Display"/>
                <a:cs typeface="Aptos Display"/>
              </a:rPr>
              <a:t>05</a:t>
            </a:r>
          </a:p>
        </p:txBody>
      </p:sp>
      <p:sp>
        <p:nvSpPr>
          <p:cNvPr id="5" name="shape">
            <a:extLst xmlns:a="http://schemas.openxmlformats.org/drawingml/2006/main">
              <a:ext uri="{FF2B5EF4-FFF2-40B4-BE49-F238E27FC236}">
                <a16:creationId xmlns:a16="http://schemas.microsoft.com/office/drawing/2014/main" id="{676EE051-CB60-4865-B622-1F0E2498F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257175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520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124318BD-4D0C-4C4B-B6D2-1838B2B7B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04975"/>
            <a:ext cx="2266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GESTURE</a:t>
            </a:r>
          </a:p>
        </p:txBody>
      </p:sp>
      <p:sp>
        <p:nvSpPr>
          <p:cNvPr id="7" name="shape">
            <a:extLst xmlns:a="http://schemas.openxmlformats.org/drawingml/2006/main">
              <a:ext uri="{FF2B5EF4-FFF2-40B4-BE49-F238E27FC236}">
                <a16:creationId xmlns:a16="http://schemas.microsoft.com/office/drawing/2014/main" id="{1C65B8D0-978E-4D2E-AEDE-9FF5046BF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562100"/>
            <a:ext cx="2857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0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DF427010-212E-45A1-9AD6-E7F40ECF5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704975"/>
            <a:ext cx="2552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PHONE RESULT</a:t>
            </a:r>
          </a:p>
        </p:txBody>
      </p:sp>
      <p:sp>
        <p:nvSpPr>
          <p:cNvPr id="9" name="shape">
            <a:extLst xmlns:a="http://schemas.openxmlformats.org/drawingml/2006/main">
              <a:ext uri="{FF2B5EF4-FFF2-40B4-BE49-F238E27FC236}">
                <a16:creationId xmlns:a16="http://schemas.microsoft.com/office/drawing/2014/main" id="{0D744263-E576-49F7-A70E-A275FDB56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562100"/>
            <a:ext cx="52006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0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E55F9632-C634-4654-942F-922F214F7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704975"/>
            <a:ext cx="4895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IMPLEMENTATION PATH</a:t>
            </a:r>
          </a:p>
        </p:txBody>
      </p:sp>
      <p:sp>
        <p:nvSpPr>
          <p:cNvPr id="11" name="shape">
            <a:extLst xmlns:a="http://schemas.openxmlformats.org/drawingml/2006/main">
              <a:ext uri="{FF2B5EF4-FFF2-40B4-BE49-F238E27FC236}">
                <a16:creationId xmlns:a16="http://schemas.microsoft.com/office/drawing/2014/main" id="{29BF67BC-9D55-4361-BF6B-92077565E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2571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5F3"/>
          </a:solidFill>
          <a:ln xmlns:a="http://schemas.openxmlformats.org/drawingml/2006/main" w="9525">
            <a:solidFill>
              <a:srgbClr val="C9D5DD"/>
            </a:solidFill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357126CF-0AA4-4D68-AF56-EB25C83C7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47900"/>
            <a:ext cx="2266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87E8B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087E8B"/>
                </a:solidFill>
                <a:latin typeface="Aptos Display"/>
                <a:ea typeface="Aptos Display"/>
                <a:cs typeface="Aptos Display"/>
              </a:rPr>
              <a:t>Swipe up</a:t>
            </a:r>
          </a:p>
        </p:txBody>
      </p:sp>
      <p:sp>
        <p:nvSpPr>
          <p:cNvPr id="13" name="shape">
            <a:extLst xmlns:a="http://schemas.openxmlformats.org/drawingml/2006/main">
              <a:ext uri="{FF2B5EF4-FFF2-40B4-BE49-F238E27FC236}">
                <a16:creationId xmlns:a16="http://schemas.microsoft.com/office/drawing/2014/main" id="{62ACB722-524D-4F67-AF06-8A80B067F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095500"/>
            <a:ext cx="2857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5F3"/>
          </a:solidFill>
          <a:ln xmlns:a="http://schemas.openxmlformats.org/drawingml/2006/main" w="9525">
            <a:solidFill>
              <a:srgbClr val="C9D5DD"/>
            </a:solidFill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7AFBAA83-F02E-4979-A174-6CFF37E89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247900"/>
            <a:ext cx="2552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202B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5202B"/>
                </a:solidFill>
                <a:latin typeface="Aptos Display"/>
                <a:ea typeface="Aptos Display"/>
                <a:cs typeface="Aptos Display"/>
              </a:rPr>
              <a:t>Scroll down</a:t>
            </a:r>
          </a:p>
        </p:txBody>
      </p:sp>
      <p:sp>
        <p:nvSpPr>
          <p:cNvPr id="15" name="shape">
            <a:extLst xmlns:a="http://schemas.openxmlformats.org/drawingml/2006/main">
              <a:ext uri="{FF2B5EF4-FFF2-40B4-BE49-F238E27FC236}">
                <a16:creationId xmlns:a16="http://schemas.microsoft.com/office/drawing/2014/main" id="{414A1B4F-C2B4-4599-9948-8A1039712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95500"/>
            <a:ext cx="52006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5F3"/>
          </a:solidFill>
          <a:ln xmlns:a="http://schemas.openxmlformats.org/drawingml/2006/main" w="9525">
            <a:solidFill>
              <a:srgbClr val="C9D5DD"/>
            </a:solidFill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904CF9ED-6EA9-4396-AA69-4425DFF9D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247900"/>
            <a:ext cx="4895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520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5202B"/>
                </a:solidFill>
                <a:latin typeface="Aptos"/>
                <a:ea typeface="Aptos"/>
                <a:cs typeface="Aptos"/>
              </a:rPr>
              <a:t>Accessibility forward scroll</a:t>
            </a:r>
          </a:p>
        </p:txBody>
      </p:sp>
      <p:sp>
        <p:nvSpPr>
          <p:cNvPr id="17" name="shape">
            <a:extLst xmlns:a="http://schemas.openxmlformats.org/drawingml/2006/main">
              <a:ext uri="{FF2B5EF4-FFF2-40B4-BE49-F238E27FC236}">
                <a16:creationId xmlns:a16="http://schemas.microsoft.com/office/drawing/2014/main" id="{056D6756-A6B9-411F-A92F-5EEF7C290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150"/>
            <a:ext cx="2571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5DD"/>
            </a:solidFill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50A84B99-67AD-4B1A-BB46-05A9A746C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76550"/>
            <a:ext cx="2266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87E8B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087E8B"/>
                </a:solidFill>
                <a:latin typeface="Aptos Display"/>
                <a:ea typeface="Aptos Display"/>
                <a:cs typeface="Aptos Display"/>
              </a:rPr>
              <a:t>Swipe down</a:t>
            </a:r>
          </a:p>
        </p:txBody>
      </p:sp>
      <p:sp>
        <p:nvSpPr>
          <p:cNvPr id="19" name="shape">
            <a:extLst xmlns:a="http://schemas.openxmlformats.org/drawingml/2006/main">
              <a:ext uri="{FF2B5EF4-FFF2-40B4-BE49-F238E27FC236}">
                <a16:creationId xmlns:a16="http://schemas.microsoft.com/office/drawing/2014/main" id="{61E80E0B-8E5B-4BC6-8B78-06BCD9A56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724150"/>
            <a:ext cx="2857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5DD"/>
            </a:solidFill>
            <a:prstDash val="solid"/>
          </a:ln>
        </p:spPr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510D2A9C-C572-4250-A44B-FABE79687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876550"/>
            <a:ext cx="2552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202B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5202B"/>
                </a:solidFill>
                <a:latin typeface="Aptos Display"/>
                <a:ea typeface="Aptos Display"/>
                <a:cs typeface="Aptos Display"/>
              </a:rPr>
              <a:t>Scroll up</a:t>
            </a:r>
          </a:p>
        </p:txBody>
      </p:sp>
      <p:sp>
        <p:nvSpPr>
          <p:cNvPr id="21" name="shape">
            <a:extLst xmlns:a="http://schemas.openxmlformats.org/drawingml/2006/main">
              <a:ext uri="{FF2B5EF4-FFF2-40B4-BE49-F238E27FC236}">
                <a16:creationId xmlns:a16="http://schemas.microsoft.com/office/drawing/2014/main" id="{03CC4536-52CE-4512-9D26-A9A1767E6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724150"/>
            <a:ext cx="52006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5DD"/>
            </a:solidFill>
            <a:prstDash val="solid"/>
          </a:ln>
        </p:spPr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F976FB38-6B73-44DD-9CB4-B69E5B30D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876550"/>
            <a:ext cx="4895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520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5202B"/>
                </a:solidFill>
                <a:latin typeface="Aptos"/>
                <a:ea typeface="Aptos"/>
                <a:cs typeface="Aptos"/>
              </a:rPr>
              <a:t>Accessibility backward scroll</a:t>
            </a:r>
          </a:p>
        </p:txBody>
      </p:sp>
      <p:sp>
        <p:nvSpPr>
          <p:cNvPr id="23" name="shape">
            <a:extLst xmlns:a="http://schemas.openxmlformats.org/drawingml/2006/main">
              <a:ext uri="{FF2B5EF4-FFF2-40B4-BE49-F238E27FC236}">
                <a16:creationId xmlns:a16="http://schemas.microsoft.com/office/drawing/2014/main" id="{C5706B43-44E4-4F16-AD41-8C5566968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52800"/>
            <a:ext cx="2571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5F3"/>
          </a:solidFill>
          <a:ln xmlns:a="http://schemas.openxmlformats.org/drawingml/2006/main" w="9525">
            <a:solidFill>
              <a:srgbClr val="C9D5DD"/>
            </a:solidFill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84B09477-3FB1-433C-89D7-4FB75A1CA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05200"/>
            <a:ext cx="2266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87E8B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087E8B"/>
                </a:solidFill>
                <a:latin typeface="Aptos Display"/>
                <a:ea typeface="Aptos Display"/>
                <a:cs typeface="Aptos Display"/>
              </a:rPr>
              <a:t>Swipe left</a:t>
            </a:r>
          </a:p>
        </p:txBody>
      </p:sp>
      <p:sp>
        <p:nvSpPr>
          <p:cNvPr id="25" name="shape">
            <a:extLst xmlns:a="http://schemas.openxmlformats.org/drawingml/2006/main">
              <a:ext uri="{FF2B5EF4-FFF2-40B4-BE49-F238E27FC236}">
                <a16:creationId xmlns:a16="http://schemas.microsoft.com/office/drawing/2014/main" id="{75F0CCBE-C8D1-4FCC-AAC9-B5B09790E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352800"/>
            <a:ext cx="2857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5F3"/>
          </a:solidFill>
          <a:ln xmlns:a="http://schemas.openxmlformats.org/drawingml/2006/main" w="9525">
            <a:solidFill>
              <a:srgbClr val="C9D5DD"/>
            </a:solidFill>
            <a:prstDash val="solid"/>
          </a:ln>
        </p:spPr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9017753A-8E55-40EC-8FC4-731C6644A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505200"/>
            <a:ext cx="2552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202B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5202B"/>
                </a:solidFill>
                <a:latin typeface="Aptos Display"/>
                <a:ea typeface="Aptos Display"/>
                <a:cs typeface="Aptos Display"/>
              </a:rPr>
              <a:t>Back</a:t>
            </a:r>
          </a:p>
        </p:txBody>
      </p:sp>
      <p:sp>
        <p:nvSpPr>
          <p:cNvPr id="27" name="shape">
            <a:extLst xmlns:a="http://schemas.openxmlformats.org/drawingml/2006/main">
              <a:ext uri="{FF2B5EF4-FFF2-40B4-BE49-F238E27FC236}">
                <a16:creationId xmlns:a16="http://schemas.microsoft.com/office/drawing/2014/main" id="{32D882B0-A19D-46F3-865B-CD1DF7E3D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352800"/>
            <a:ext cx="52006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5F3"/>
          </a:solidFill>
          <a:ln xmlns:a="http://schemas.openxmlformats.org/drawingml/2006/main" w="9525">
            <a:solidFill>
              <a:srgbClr val="C9D5DD"/>
            </a:solidFill>
            <a:prstDash val="solid"/>
          </a:ln>
        </p:spPr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09367A9F-08D1-40D7-95D2-784E7251D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505200"/>
            <a:ext cx="4895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520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5202B"/>
                </a:solidFill>
                <a:latin typeface="Aptos"/>
                <a:ea typeface="Aptos"/>
                <a:cs typeface="Aptos"/>
              </a:rPr>
              <a:t>Global Back action</a:t>
            </a:r>
          </a:p>
        </p:txBody>
      </p:sp>
      <p:sp>
        <p:nvSpPr>
          <p:cNvPr id="29" name="shape">
            <a:extLst xmlns:a="http://schemas.openxmlformats.org/drawingml/2006/main">
              <a:ext uri="{FF2B5EF4-FFF2-40B4-BE49-F238E27FC236}">
                <a16:creationId xmlns:a16="http://schemas.microsoft.com/office/drawing/2014/main" id="{3DC5AC5D-AAAF-44DF-9F92-6000A9E72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81450"/>
            <a:ext cx="2571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5DD"/>
            </a:solidFill>
            <a:prstDash val="solid"/>
          </a:ln>
        </p:spPr>
      </p:sp>
      <p:sp>
        <p:nvSpPr>
          <p:cNvPr id="30" name="text">
            <a:extLst xmlns:a="http://schemas.openxmlformats.org/drawingml/2006/main">
              <a:ext uri="{FF2B5EF4-FFF2-40B4-BE49-F238E27FC236}">
                <a16:creationId xmlns:a16="http://schemas.microsoft.com/office/drawing/2014/main" id="{544F63A2-6206-466A-BA23-0D48694E2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33850"/>
            <a:ext cx="2266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87E8B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087E8B"/>
                </a:solidFill>
                <a:latin typeface="Aptos Display"/>
                <a:ea typeface="Aptos Display"/>
                <a:cs typeface="Aptos Display"/>
              </a:rPr>
              <a:t>Swipe right</a:t>
            </a:r>
          </a:p>
        </p:txBody>
      </p:sp>
      <p:sp>
        <p:nvSpPr>
          <p:cNvPr id="31" name="shape">
            <a:extLst xmlns:a="http://schemas.openxmlformats.org/drawingml/2006/main">
              <a:ext uri="{FF2B5EF4-FFF2-40B4-BE49-F238E27FC236}">
                <a16:creationId xmlns:a16="http://schemas.microsoft.com/office/drawing/2014/main" id="{7C6221FA-FF95-4566-B30B-F061DE44B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981450"/>
            <a:ext cx="2857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5DD"/>
            </a:solidFill>
            <a:prstDash val="solid"/>
          </a:ln>
        </p:spPr>
      </p:sp>
      <p:sp>
        <p:nvSpPr>
          <p:cNvPr id="32" name="text">
            <a:extLst xmlns:a="http://schemas.openxmlformats.org/drawingml/2006/main">
              <a:ext uri="{FF2B5EF4-FFF2-40B4-BE49-F238E27FC236}">
                <a16:creationId xmlns:a16="http://schemas.microsoft.com/office/drawing/2014/main" id="{7F7EF6C5-9663-43FC-868A-A86A2189E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133850"/>
            <a:ext cx="2552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202B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5202B"/>
                </a:solidFill>
                <a:latin typeface="Aptos Display"/>
                <a:ea typeface="Aptos Display"/>
                <a:cs typeface="Aptos Display"/>
              </a:rPr>
              <a:t>Recent apps</a:t>
            </a:r>
          </a:p>
        </p:txBody>
      </p:sp>
      <p:sp>
        <p:nvSpPr>
          <p:cNvPr id="33" name="shape">
            <a:extLst xmlns:a="http://schemas.openxmlformats.org/drawingml/2006/main">
              <a:ext uri="{FF2B5EF4-FFF2-40B4-BE49-F238E27FC236}">
                <a16:creationId xmlns:a16="http://schemas.microsoft.com/office/drawing/2014/main" id="{5173E307-9903-480D-9447-1A544D780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981450"/>
            <a:ext cx="52006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5DD"/>
            </a:solidFill>
            <a:prstDash val="solid"/>
          </a:ln>
        </p:spPr>
      </p:sp>
      <p:sp>
        <p:nvSpPr>
          <p:cNvPr id="34" name="text">
            <a:extLst xmlns:a="http://schemas.openxmlformats.org/drawingml/2006/main">
              <a:ext uri="{FF2B5EF4-FFF2-40B4-BE49-F238E27FC236}">
                <a16:creationId xmlns:a16="http://schemas.microsoft.com/office/drawing/2014/main" id="{0AE2DF31-BE7B-418B-B9D8-DFB3D7D29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133850"/>
            <a:ext cx="4895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520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5202B"/>
                </a:solidFill>
                <a:latin typeface="Aptos"/>
                <a:ea typeface="Aptos"/>
                <a:cs typeface="Aptos"/>
              </a:rPr>
              <a:t>Global Recents action</a:t>
            </a:r>
          </a:p>
        </p:txBody>
      </p:sp>
      <p:sp>
        <p:nvSpPr>
          <p:cNvPr id="35" name="shape">
            <a:extLst xmlns:a="http://schemas.openxmlformats.org/drawingml/2006/main">
              <a:ext uri="{FF2B5EF4-FFF2-40B4-BE49-F238E27FC236}">
                <a16:creationId xmlns:a16="http://schemas.microsoft.com/office/drawing/2014/main" id="{80E84A89-7026-41C3-928B-F0FAAA634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10100"/>
            <a:ext cx="2571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5F3"/>
          </a:solidFill>
          <a:ln xmlns:a="http://schemas.openxmlformats.org/drawingml/2006/main" w="9525">
            <a:solidFill>
              <a:srgbClr val="C9D5DD"/>
            </a:solidFill>
            <a:prstDash val="solid"/>
          </a:ln>
        </p:spPr>
      </p:sp>
      <p:sp>
        <p:nvSpPr>
          <p:cNvPr id="36" name="text">
            <a:extLst xmlns:a="http://schemas.openxmlformats.org/drawingml/2006/main">
              <a:ext uri="{FF2B5EF4-FFF2-40B4-BE49-F238E27FC236}">
                <a16:creationId xmlns:a16="http://schemas.microsoft.com/office/drawing/2014/main" id="{2B059368-A764-4787-938C-0C415FB81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0"/>
            <a:ext cx="2266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87E8B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087E8B"/>
                </a:solidFill>
                <a:latin typeface="Aptos Display"/>
                <a:ea typeface="Aptos Display"/>
                <a:cs typeface="Aptos Display"/>
              </a:rPr>
              <a:t>Open palm</a:t>
            </a:r>
          </a:p>
        </p:txBody>
      </p:sp>
      <p:sp>
        <p:nvSpPr>
          <p:cNvPr id="37" name="shape">
            <a:extLst xmlns:a="http://schemas.openxmlformats.org/drawingml/2006/main">
              <a:ext uri="{FF2B5EF4-FFF2-40B4-BE49-F238E27FC236}">
                <a16:creationId xmlns:a16="http://schemas.microsoft.com/office/drawing/2014/main" id="{A28518EC-9E5F-4F3F-A582-8ADE7013C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610100"/>
            <a:ext cx="2857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5F3"/>
          </a:solidFill>
          <a:ln xmlns:a="http://schemas.openxmlformats.org/drawingml/2006/main" w="9525">
            <a:solidFill>
              <a:srgbClr val="C9D5DD"/>
            </a:solidFill>
            <a:prstDash val="solid"/>
          </a:ln>
        </p:spPr>
      </p:sp>
      <p:sp>
        <p:nvSpPr>
          <p:cNvPr id="38" name="text">
            <a:extLst xmlns:a="http://schemas.openxmlformats.org/drawingml/2006/main">
              <a:ext uri="{FF2B5EF4-FFF2-40B4-BE49-F238E27FC236}">
                <a16:creationId xmlns:a16="http://schemas.microsoft.com/office/drawing/2014/main" id="{77BE7924-B14C-4711-84FA-7754A46D7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762500"/>
            <a:ext cx="2552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202B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5202B"/>
                </a:solidFill>
                <a:latin typeface="Aptos Display"/>
                <a:ea typeface="Aptos Display"/>
                <a:cs typeface="Aptos Display"/>
              </a:rPr>
              <a:t>Play / pause</a:t>
            </a:r>
          </a:p>
        </p:txBody>
      </p:sp>
      <p:sp>
        <p:nvSpPr>
          <p:cNvPr id="39" name="shape">
            <a:extLst xmlns:a="http://schemas.openxmlformats.org/drawingml/2006/main">
              <a:ext uri="{FF2B5EF4-FFF2-40B4-BE49-F238E27FC236}">
                <a16:creationId xmlns:a16="http://schemas.microsoft.com/office/drawing/2014/main" id="{66510A3E-C4E5-455B-A94C-4A5E31A3F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610100"/>
            <a:ext cx="52006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5F3"/>
          </a:solidFill>
          <a:ln xmlns:a="http://schemas.openxmlformats.org/drawingml/2006/main" w="9525">
            <a:solidFill>
              <a:srgbClr val="C9D5DD"/>
            </a:solidFill>
            <a:prstDash val="solid"/>
          </a:ln>
        </p:spPr>
      </p:sp>
      <p:sp>
        <p:nvSpPr>
          <p:cNvPr id="40" name="text">
            <a:extLst xmlns:a="http://schemas.openxmlformats.org/drawingml/2006/main">
              <a:ext uri="{FF2B5EF4-FFF2-40B4-BE49-F238E27FC236}">
                <a16:creationId xmlns:a16="http://schemas.microsoft.com/office/drawing/2014/main" id="{C44352FC-EC1F-4E6A-9900-881697CBC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762500"/>
            <a:ext cx="4895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520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5202B"/>
                </a:solidFill>
                <a:latin typeface="Aptos"/>
                <a:ea typeface="Aptos"/>
                <a:cs typeface="Aptos"/>
              </a:rPr>
              <a:t>Media key dispatch</a:t>
            </a:r>
          </a:p>
        </p:txBody>
      </p:sp>
      <p:sp>
        <p:nvSpPr>
          <p:cNvPr id="41" name="shape">
            <a:extLst xmlns:a="http://schemas.openxmlformats.org/drawingml/2006/main">
              <a:ext uri="{FF2B5EF4-FFF2-40B4-BE49-F238E27FC236}">
                <a16:creationId xmlns:a16="http://schemas.microsoft.com/office/drawing/2014/main" id="{3C99C4C6-1194-4C59-ABB6-0109BEA82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0"/>
            <a:ext cx="2571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5DD"/>
            </a:solidFill>
            <a:prstDash val="solid"/>
          </a:ln>
        </p:spPr>
      </p:sp>
      <p:sp>
        <p:nvSpPr>
          <p:cNvPr id="42" name="text">
            <a:extLst xmlns:a="http://schemas.openxmlformats.org/drawingml/2006/main">
              <a:ext uri="{FF2B5EF4-FFF2-40B4-BE49-F238E27FC236}">
                <a16:creationId xmlns:a16="http://schemas.microsoft.com/office/drawing/2014/main" id="{97DE44EA-0FE3-4732-95A1-DC3B07377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91150"/>
            <a:ext cx="2266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87E8B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087E8B"/>
                </a:solidFill>
                <a:latin typeface="Aptos Display"/>
                <a:ea typeface="Aptos Display"/>
                <a:cs typeface="Aptos Display"/>
              </a:rPr>
              <a:t>Closed fist</a:t>
            </a:r>
          </a:p>
        </p:txBody>
      </p:sp>
      <p:sp>
        <p:nvSpPr>
          <p:cNvPr id="43" name="shape">
            <a:extLst xmlns:a="http://schemas.openxmlformats.org/drawingml/2006/main">
              <a:ext uri="{FF2B5EF4-FFF2-40B4-BE49-F238E27FC236}">
                <a16:creationId xmlns:a16="http://schemas.microsoft.com/office/drawing/2014/main" id="{C9947D7D-211A-4236-82D9-F405C0C4A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5238750"/>
            <a:ext cx="2857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5DD"/>
            </a:solidFill>
            <a:prstDash val="solid"/>
          </a:ln>
        </p:spPr>
      </p:sp>
      <p:sp>
        <p:nvSpPr>
          <p:cNvPr id="44" name="text">
            <a:extLst xmlns:a="http://schemas.openxmlformats.org/drawingml/2006/main">
              <a:ext uri="{FF2B5EF4-FFF2-40B4-BE49-F238E27FC236}">
                <a16:creationId xmlns:a16="http://schemas.microsoft.com/office/drawing/2014/main" id="{7ECE255A-2F4C-46DA-B8E8-D3FF45ABD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5391150"/>
            <a:ext cx="2552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202B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5202B"/>
                </a:solidFill>
                <a:latin typeface="Aptos Display"/>
                <a:ea typeface="Aptos Display"/>
                <a:cs typeface="Aptos Display"/>
              </a:rPr>
              <a:t>Home</a:t>
            </a:r>
          </a:p>
        </p:txBody>
      </p:sp>
      <p:sp>
        <p:nvSpPr>
          <p:cNvPr id="45" name="shape">
            <a:extLst xmlns:a="http://schemas.openxmlformats.org/drawingml/2006/main">
              <a:ext uri="{FF2B5EF4-FFF2-40B4-BE49-F238E27FC236}">
                <a16:creationId xmlns:a16="http://schemas.microsoft.com/office/drawing/2014/main" id="{302A6355-8D35-4D9D-AB1D-7CA6364EB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238750"/>
            <a:ext cx="52006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5DD"/>
            </a:solidFill>
            <a:prstDash val="solid"/>
          </a:ln>
        </p:spPr>
      </p:sp>
      <p:sp>
        <p:nvSpPr>
          <p:cNvPr id="46" name="text">
            <a:extLst xmlns:a="http://schemas.openxmlformats.org/drawingml/2006/main">
              <a:ext uri="{FF2B5EF4-FFF2-40B4-BE49-F238E27FC236}">
                <a16:creationId xmlns:a16="http://schemas.microsoft.com/office/drawing/2014/main" id="{D0ADE2DB-4F64-42E8-994C-9B455AF89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5391150"/>
            <a:ext cx="4895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520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5202B"/>
                </a:solidFill>
                <a:latin typeface="Aptos"/>
                <a:ea typeface="Aptos"/>
                <a:cs typeface="Aptos"/>
              </a:rPr>
              <a:t>Global Home action</a:t>
            </a:r>
          </a:p>
        </p:txBody>
      </p:sp>
      <p:sp>
        <p:nvSpPr>
          <p:cNvPr id="47" name="text">
            <a:extLst xmlns:a="http://schemas.openxmlformats.org/drawingml/2006/main">
              <a:ext uri="{FF2B5EF4-FFF2-40B4-BE49-F238E27FC236}">
                <a16:creationId xmlns:a16="http://schemas.microsoft.com/office/drawing/2014/main" id="{73BDDB6F-870E-4AE4-BEFE-1C56D8FDB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D6B78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5D6B78"/>
                </a:solidFill>
                <a:latin typeface="Aptos Display"/>
                <a:ea typeface="Aptos Display"/>
                <a:cs typeface="Aptos Display"/>
              </a:rPr>
              <a:t>Scrolling first targets a scrollable accessibility node; if that fails, Ammu dispatches a swipe gesture as fallback.</a:t>
            </a:r>
          </a:p>
        </p:txBody>
      </p:sp>
    </p:spTree>
    <p:extLst>
      <p:ext uri="{BB962C8B-B14F-4D97-AF65-F5344CB8AC3E}">
        <p14:creationId xmlns:p14="http://schemas.microsoft.com/office/powerpoint/2010/main" val="199561493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DF17B301-F343-4B4F-85B5-846452CE6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87E8B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087E8B"/>
                </a:solidFill>
                <a:latin typeface="Aptos Display"/>
                <a:ea typeface="Aptos Display"/>
                <a:cs typeface="Aptos Display"/>
              </a:rPr>
              <a:t>ALTERNATIVE INPUTS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C5EFB699-EC99-4A20-9939-99F90D03A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5202B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5202B"/>
                </a:solidFill>
                <a:latin typeface="Aptos Display"/>
                <a:ea typeface="Aptos Display"/>
                <a:cs typeface="Aptos Display"/>
              </a:rPr>
              <a:t>Voice and sensors provide complementary touchless control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A3DFEEAE-3F6C-4694-93B4-5273D97DF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BA0A9A7-58A3-4FC2-B6DB-6058E0A42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D6B78"/>
                </a:solidFill>
                <a:latin typeface="Aptos Display"/>
                <a:ea typeface="Aptos Display"/>
                <a:cs typeface="Aptos Display"/>
              </a:defRPr>
            </a:pPr>
            <a:r>
              <a:rPr sz="750" b="1">
                <a:solidFill>
                  <a:srgbClr val="5D6B78"/>
                </a:solidFill>
                <a:latin typeface="Aptos Display"/>
                <a:ea typeface="Aptos Display"/>
                <a:cs typeface="Aptos Display"/>
              </a:rPr>
              <a:t>06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586EB0EB-F6E3-4706-AD6C-C6AFCE440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87E8B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087E8B"/>
                </a:solidFill>
                <a:latin typeface="Aptos Display"/>
                <a:ea typeface="Aptos Display"/>
                <a:cs typeface="Aptos Display"/>
              </a:rPr>
              <a:t>VOICE LANE</a:t>
            </a:r>
          </a:p>
        </p:txBody>
      </p:sp>
      <p:sp>
        <p:nvSpPr>
          <p:cNvPr id="6" name="shape">
            <a:extLst xmlns:a="http://schemas.openxmlformats.org/drawingml/2006/main">
              <a:ext uri="{FF2B5EF4-FFF2-40B4-BE49-F238E27FC236}">
                <a16:creationId xmlns:a16="http://schemas.microsoft.com/office/drawing/2014/main" id="{3838D24C-96B9-4544-B1C8-58B2202AA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20002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7F5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hape">
            <a:extLst xmlns:a="http://schemas.openxmlformats.org/drawingml/2006/main">
              <a:ext uri="{FF2B5EF4-FFF2-40B4-BE49-F238E27FC236}">
                <a16:creationId xmlns:a16="http://schemas.microsoft.com/office/drawing/2014/main" id="{6B58F8B5-F7AA-47DF-8391-A85E00758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981200"/>
            <a:ext cx="20002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AF1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hape">
            <a:extLst xmlns:a="http://schemas.openxmlformats.org/drawingml/2006/main">
              <a:ext uri="{FF2B5EF4-FFF2-40B4-BE49-F238E27FC236}">
                <a16:creationId xmlns:a16="http://schemas.microsoft.com/office/drawing/2014/main" id="{72BB2923-BB98-481A-BC7E-C57C33563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1981200"/>
            <a:ext cx="23812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2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hape">
            <a:extLst xmlns:a="http://schemas.openxmlformats.org/drawingml/2006/main">
              <a:ext uri="{FF2B5EF4-FFF2-40B4-BE49-F238E27FC236}">
                <a16:creationId xmlns:a16="http://schemas.microsoft.com/office/drawing/2014/main" id="{4B80B7D4-3E98-47A6-90EA-0AE1743CF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981200"/>
            <a:ext cx="29908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DEB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091064BF-490C-4294-8057-3AF11ABB3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90750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5202B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5202B"/>
                </a:solidFill>
                <a:latin typeface="Aptos Display"/>
                <a:ea typeface="Aptos Display"/>
                <a:cs typeface="Aptos Display"/>
              </a:rPr>
              <a:t>Tap To Talk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AF932AF5-4F30-48DB-A875-C5A9930FA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33650"/>
            <a:ext cx="1657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D6B7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B78"/>
                </a:solidFill>
                <a:latin typeface="Aptos"/>
                <a:ea typeface="Aptos"/>
                <a:cs typeface="Aptos"/>
              </a:rPr>
              <a:t>Starts Android speech recognition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AA09FD40-87E1-4D5A-A945-5B88D2E7D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190750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5202B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5202B"/>
                </a:solidFill>
                <a:latin typeface="Aptos Display"/>
                <a:ea typeface="Aptos Display"/>
                <a:cs typeface="Aptos Display"/>
              </a:rPr>
              <a:t>Recognize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96063F98-E63D-4DDA-8467-3262DBA49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533650"/>
            <a:ext cx="1657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D6B7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B78"/>
                </a:solidFill>
                <a:latin typeface="Aptos"/>
                <a:ea typeface="Aptos"/>
                <a:cs typeface="Aptos"/>
              </a:rPr>
              <a:t>Returns candidate phrases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5A056546-C912-4AB4-B3AF-35CBF8E16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190750"/>
            <a:ext cx="2076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5202B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5202B"/>
                </a:solidFill>
                <a:latin typeface="Aptos Display"/>
                <a:ea typeface="Aptos Display"/>
                <a:cs typeface="Aptos Display"/>
              </a:rPr>
              <a:t>Route command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11C0AEDC-04C7-429F-9AD2-742B7FF02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533650"/>
            <a:ext cx="2038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D6B7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B78"/>
                </a:solidFill>
                <a:latin typeface="Aptos"/>
                <a:ea typeface="Aptos"/>
                <a:cs typeface="Aptos"/>
              </a:rPr>
              <a:t>Launch, scroll, media, calls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A5EA6ED8-0CDB-4A86-A743-6209827BF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190750"/>
            <a:ext cx="2686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5202B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5202B"/>
                </a:solidFill>
                <a:latin typeface="Aptos Display"/>
                <a:ea typeface="Aptos Display"/>
                <a:cs typeface="Aptos Display"/>
              </a:rPr>
              <a:t>Confirm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9E58E11C-9DBD-4C2B-9155-B6DB42802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533650"/>
            <a:ext cx="2647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D6B7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B78"/>
                </a:solidFill>
                <a:latin typeface="Aptos"/>
                <a:ea typeface="Aptos"/>
                <a:cs typeface="Aptos"/>
              </a:rPr>
              <a:t>TextToSpeech and on-screen status</a:t>
            </a:r>
          </a:p>
        </p:txBody>
      </p:sp>
      <p:cxnSp>
        <p:nvCxnSpPr>
          <p:cNvPr id="52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609850" y="2514600"/>
            <a:ext cx="5334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E8B"/>
            </a:solidFill>
            <a:prstDash val="solid"/>
            <a:headEnd type="arrow" w="med" len="med"/>
          </a:ln>
        </p:spPr>
      </p:cxnSp>
      <p:cxnSp>
        <p:nvCxnSpPr>
          <p:cNvPr id="53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5143500" y="2514600"/>
            <a:ext cx="5334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E8B"/>
            </a:solidFill>
            <a:prstDash val="solid"/>
            <a:headEnd type="arrow" w="med" len="med"/>
          </a:ln>
        </p:spPr>
      </p:cxnSp>
      <p:cxnSp>
        <p:nvCxnSpPr>
          <p:cNvPr id="54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8058150" y="2514600"/>
            <a:ext cx="5334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E8B"/>
            </a:solidFill>
            <a:prstDash val="solid"/>
            <a:headEnd type="arrow" w="med" len="med"/>
          </a:ln>
        </p:spPr>
      </p:cxn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F1C71DC6-B827-404C-9949-B41B61E79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87E8B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087E8B"/>
                </a:solidFill>
                <a:latin typeface="Aptos Display"/>
                <a:ea typeface="Aptos Display"/>
                <a:cs typeface="Aptos Display"/>
              </a:rPr>
              <a:t>SENSOR LANE</a:t>
            </a:r>
          </a:p>
        </p:txBody>
      </p:sp>
      <p:sp>
        <p:nvSpPr>
          <p:cNvPr id="22" name="shape">
            <a:extLst xmlns:a="http://schemas.openxmlformats.org/drawingml/2006/main">
              <a:ext uri="{FF2B5EF4-FFF2-40B4-BE49-F238E27FC236}">
                <a16:creationId xmlns:a16="http://schemas.microsoft.com/office/drawing/2014/main" id="{F58CB582-92B4-415B-8446-4C9A67F96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14800"/>
            <a:ext cx="25146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7F5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4560479D-2182-44C2-BE07-4E97A531B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62450"/>
            <a:ext cx="2171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5202B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5202B"/>
                </a:solidFill>
                <a:latin typeface="Aptos Display"/>
                <a:ea typeface="Aptos Display"/>
                <a:cs typeface="Aptos Display"/>
              </a:rPr>
              <a:t>Tilt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850BF381-7580-4CCC-A984-6E54D0F05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00600"/>
            <a:ext cx="2171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D6B7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D6B78"/>
                </a:solidFill>
                <a:latin typeface="Aptos"/>
                <a:ea typeface="Aptos"/>
                <a:cs typeface="Aptos"/>
              </a:rPr>
              <a:t>Scroll up / down</a:t>
            </a:r>
          </a:p>
        </p:txBody>
      </p:sp>
      <p:sp>
        <p:nvSpPr>
          <p:cNvPr id="25" name="shape">
            <a:extLst xmlns:a="http://schemas.openxmlformats.org/drawingml/2006/main">
              <a:ext uri="{FF2B5EF4-FFF2-40B4-BE49-F238E27FC236}">
                <a16:creationId xmlns:a16="http://schemas.microsoft.com/office/drawing/2014/main" id="{91E1068A-82A1-42CE-898F-E704772EE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114800"/>
            <a:ext cx="25146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AF1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713425CF-6CFE-4FD6-AD3E-449895A3D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362450"/>
            <a:ext cx="2171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5202B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5202B"/>
                </a:solidFill>
                <a:latin typeface="Aptos Display"/>
                <a:ea typeface="Aptos Display"/>
                <a:cs typeface="Aptos Display"/>
              </a:rPr>
              <a:t>Tilt left / right</a:t>
            </a:r>
          </a:p>
        </p:txBody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4A349F5D-0AFA-4263-AC03-973546FB0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800600"/>
            <a:ext cx="2171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D6B7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D6B78"/>
                </a:solidFill>
                <a:latin typeface="Aptos"/>
                <a:ea typeface="Aptos"/>
                <a:cs typeface="Aptos"/>
              </a:rPr>
              <a:t>Back / Home</a:t>
            </a:r>
          </a:p>
        </p:txBody>
      </p:sp>
      <p:sp>
        <p:nvSpPr>
          <p:cNvPr id="28" name="shape">
            <a:extLst xmlns:a="http://schemas.openxmlformats.org/drawingml/2006/main">
              <a:ext uri="{FF2B5EF4-FFF2-40B4-BE49-F238E27FC236}">
                <a16:creationId xmlns:a16="http://schemas.microsoft.com/office/drawing/2014/main" id="{E25D50AD-5030-4137-82CE-A0499D0B8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114800"/>
            <a:ext cx="25146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7F5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0CF67A08-62DA-46B0-B4CE-62F64D19D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362450"/>
            <a:ext cx="2171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5202B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5202B"/>
                </a:solidFill>
                <a:latin typeface="Aptos Display"/>
                <a:ea typeface="Aptos Display"/>
                <a:cs typeface="Aptos Display"/>
              </a:rPr>
              <a:t>Shake</a:t>
            </a:r>
          </a:p>
        </p:txBody>
      </p:sp>
      <p:sp>
        <p:nvSpPr>
          <p:cNvPr id="30" name="text">
            <a:extLst xmlns:a="http://schemas.openxmlformats.org/drawingml/2006/main">
              <a:ext uri="{FF2B5EF4-FFF2-40B4-BE49-F238E27FC236}">
                <a16:creationId xmlns:a16="http://schemas.microsoft.com/office/drawing/2014/main" id="{CBD3B179-BCD7-41F1-9D36-062E6BAA6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800600"/>
            <a:ext cx="2171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D6B7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D6B78"/>
                </a:solidFill>
                <a:latin typeface="Aptos"/>
                <a:ea typeface="Aptos"/>
                <a:cs typeface="Aptos"/>
              </a:rPr>
              <a:t>Recent apps</a:t>
            </a:r>
          </a:p>
        </p:txBody>
      </p:sp>
      <p:sp>
        <p:nvSpPr>
          <p:cNvPr id="31" name="shape">
            <a:extLst xmlns:a="http://schemas.openxmlformats.org/drawingml/2006/main">
              <a:ext uri="{FF2B5EF4-FFF2-40B4-BE49-F238E27FC236}">
                <a16:creationId xmlns:a16="http://schemas.microsoft.com/office/drawing/2014/main" id="{933DE5C4-8B6E-4E59-9FE6-038213123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114800"/>
            <a:ext cx="25146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AF1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text">
            <a:extLst xmlns:a="http://schemas.openxmlformats.org/drawingml/2006/main">
              <a:ext uri="{FF2B5EF4-FFF2-40B4-BE49-F238E27FC236}">
                <a16:creationId xmlns:a16="http://schemas.microsoft.com/office/drawing/2014/main" id="{C1ABC07D-EE05-4E93-9F0A-B84D21CA8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362450"/>
            <a:ext cx="2171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5202B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5202B"/>
                </a:solidFill>
                <a:latin typeface="Aptos Display"/>
                <a:ea typeface="Aptos Display"/>
                <a:cs typeface="Aptos Display"/>
              </a:rPr>
              <a:t>Proximity wave</a:t>
            </a:r>
          </a:p>
        </p:txBody>
      </p:sp>
      <p:sp>
        <p:nvSpPr>
          <p:cNvPr id="33" name="text">
            <a:extLst xmlns:a="http://schemas.openxmlformats.org/drawingml/2006/main">
              <a:ext uri="{FF2B5EF4-FFF2-40B4-BE49-F238E27FC236}">
                <a16:creationId xmlns:a16="http://schemas.microsoft.com/office/drawing/2014/main" id="{3AAEEE27-36DA-42BF-9DD0-71440FA01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800600"/>
            <a:ext cx="2171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D6B7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D6B78"/>
                </a:solidFill>
                <a:latin typeface="Aptos"/>
                <a:ea typeface="Aptos"/>
                <a:cs typeface="Aptos"/>
              </a:rPr>
              <a:t>Answer / end call</a:t>
            </a:r>
          </a:p>
        </p:txBody>
      </p:sp>
      <p:sp>
        <p:nvSpPr>
          <p:cNvPr id="34" name="text">
            <a:extLst xmlns:a="http://schemas.openxmlformats.org/drawingml/2006/main">
              <a:ext uri="{FF2B5EF4-FFF2-40B4-BE49-F238E27FC236}">
                <a16:creationId xmlns:a16="http://schemas.microsoft.com/office/drawing/2014/main" id="{FEAB3359-B1D2-4386-82AD-3363E2340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D6B78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5D6B78"/>
                </a:solidFill>
                <a:latin typeface="Aptos Display"/>
                <a:ea typeface="Aptos Display"/>
                <a:cs typeface="Aptos Display"/>
              </a:rPr>
              <a:t>Design note: standard Android SpeechRecognizer is used, so reliable operation is tap-to-talk rather than a permanent hot microphone.</a:t>
            </a:r>
          </a:p>
        </p:txBody>
      </p:sp>
    </p:spTree>
    <p:extLst>
      <p:ext uri="{BB962C8B-B14F-4D97-AF65-F5344CB8AC3E}">
        <p14:creationId xmlns:p14="http://schemas.microsoft.com/office/powerpoint/2010/main" val="65782274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EEE1D928-F408-4629-A1EE-0AF24313C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87E8B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087E8B"/>
                </a:solidFill>
                <a:latin typeface="Aptos Display"/>
                <a:ea typeface="Aptos Display"/>
                <a:cs typeface="Aptos Display"/>
              </a:rPr>
              <a:t>LOST-PHONE WORKFLOW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A863372-7DB8-4A4A-BAA2-E387702E2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5202B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5202B"/>
                </a:solidFill>
                <a:latin typeface="Aptos Display"/>
                <a:ea typeface="Aptos Display"/>
                <a:cs typeface="Aptos Display"/>
              </a:rPr>
              <a:t>Lost-phone mode turns location into scheduled email updates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B5A47571-9B1E-40F3-8FF4-C92FEF353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D51FEDED-5869-4DD2-8424-0D1A1507E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D6B78"/>
                </a:solidFill>
                <a:latin typeface="Aptos Display"/>
                <a:ea typeface="Aptos Display"/>
                <a:cs typeface="Aptos Display"/>
              </a:defRPr>
            </a:pPr>
            <a:r>
              <a:rPr sz="750" b="1">
                <a:solidFill>
                  <a:srgbClr val="5D6B78"/>
                </a:solidFill>
                <a:latin typeface="Aptos Display"/>
                <a:ea typeface="Aptos Display"/>
                <a:cs typeface="Aptos Display"/>
              </a:rPr>
              <a:t>07</a:t>
            </a:r>
          </a:p>
        </p:txBody>
      </p:sp>
      <p:sp>
        <p:nvSpPr>
          <p:cNvPr id="5" name="shape">
            <a:extLst xmlns:a="http://schemas.openxmlformats.org/drawingml/2006/main">
              <a:ext uri="{FF2B5EF4-FFF2-40B4-BE49-F238E27FC236}">
                <a16:creationId xmlns:a16="http://schemas.microsoft.com/office/drawing/2014/main" id="{D5A632D5-6A05-4FE5-B551-673523DA2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3600"/>
            <a:ext cx="1790700" cy="272415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E7F5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92C7EE-8472-4422-8C94-0D2EA9408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7526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A5F"/>
          </a:solidFill>
          <a:ln xmlns:a="http://schemas.openxmlformats.org/drawingml/2006/main" w="0">
            <a:solidFill>
              <a:srgbClr val="FF5A5F"/>
            </a:solidFill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25911865-FE32-44A3-A841-C53E056A2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9050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1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44E0F39C-D4F3-4D6B-AB85-E9363438D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57450"/>
            <a:ext cx="1447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5202B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5202B"/>
                </a:solidFill>
                <a:latin typeface="Aptos Display"/>
                <a:ea typeface="Aptos Display"/>
                <a:cs typeface="Aptos Display"/>
              </a:rPr>
              <a:t>Authorize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130C0F91-80B9-4F65-AB99-9CC636971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52750"/>
            <a:ext cx="14097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D6B7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D6B78"/>
                </a:solidFill>
                <a:latin typeface="Aptos"/>
                <a:ea typeface="Aptos"/>
                <a:cs typeface="Aptos"/>
              </a:rPr>
              <a:t>User enters the configured secret code and grants location.</a:t>
            </a:r>
          </a:p>
        </p:txBody>
      </p:sp>
      <p:sp>
        <p:nvSpPr>
          <p:cNvPr id="10" name="shape">
            <a:extLst xmlns:a="http://schemas.openxmlformats.org/drawingml/2006/main">
              <a:ext uri="{FF2B5EF4-FFF2-40B4-BE49-F238E27FC236}">
                <a16:creationId xmlns:a16="http://schemas.microsoft.com/office/drawing/2014/main" id="{EA35576F-BA18-4DC6-B3A7-2B3C7894F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33600"/>
            <a:ext cx="1790700" cy="272415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EAF1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55F9E6-01CD-48FE-A0AC-15764B3B3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7526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solidFill>
              <a:srgbClr val="087E8B"/>
            </a:solidFill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F36091FE-11B3-42E1-8661-482A989A4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9050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2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4DFAF45D-A5BE-42C6-AC2E-DC79E8A72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57450"/>
            <a:ext cx="1447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5202B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5202B"/>
                </a:solidFill>
                <a:latin typeface="Aptos Display"/>
                <a:ea typeface="Aptos Display"/>
                <a:cs typeface="Aptos Display"/>
              </a:rPr>
              <a:t>Start service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790BC4A1-91D4-4C8D-812A-3382ECEE9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952750"/>
            <a:ext cx="14097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D6B7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D6B78"/>
                </a:solidFill>
                <a:latin typeface="Aptos"/>
                <a:ea typeface="Aptos"/>
                <a:cs typeface="Aptos"/>
              </a:rPr>
              <a:t>A foreground location service shows an ongoing notice.</a:t>
            </a:r>
          </a:p>
        </p:txBody>
      </p:sp>
      <p:sp>
        <p:nvSpPr>
          <p:cNvPr id="15" name="shape">
            <a:extLst xmlns:a="http://schemas.openxmlformats.org/drawingml/2006/main">
              <a:ext uri="{FF2B5EF4-FFF2-40B4-BE49-F238E27FC236}">
                <a16:creationId xmlns:a16="http://schemas.microsoft.com/office/drawing/2014/main" id="{5F8EF013-E401-4867-923A-40424EF1A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133600"/>
            <a:ext cx="1790700" cy="272415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E7F5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03EA2C-6993-4A0F-B5FD-32C4297D2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17526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solidFill>
              <a:srgbClr val="087E8B"/>
            </a:solidFill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DE40B2AA-5AF9-46DA-B996-1DDD50D00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19050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3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4784DE89-5CBB-46F6-85A8-CFE7C0C22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457450"/>
            <a:ext cx="1447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5202B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5202B"/>
                </a:solidFill>
                <a:latin typeface="Aptos Display"/>
                <a:ea typeface="Aptos Display"/>
                <a:cs typeface="Aptos Display"/>
              </a:rPr>
              <a:t>Locate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FE5FC0B0-AC41-4BF8-A683-3406C1193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952750"/>
            <a:ext cx="14097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D6B7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D6B78"/>
                </a:solidFill>
                <a:latin typeface="Aptos"/>
                <a:ea typeface="Aptos"/>
                <a:cs typeface="Aptos"/>
              </a:rPr>
              <a:t>Fused Location Provider requests high-accuracy coordinates.</a:t>
            </a:r>
          </a:p>
        </p:txBody>
      </p:sp>
      <p:sp>
        <p:nvSpPr>
          <p:cNvPr id="20" name="shape">
            <a:extLst xmlns:a="http://schemas.openxmlformats.org/drawingml/2006/main">
              <a:ext uri="{FF2B5EF4-FFF2-40B4-BE49-F238E27FC236}">
                <a16:creationId xmlns:a16="http://schemas.microsoft.com/office/drawing/2014/main" id="{EFDC0F49-4AB5-4D20-95B8-29CACAA50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133600"/>
            <a:ext cx="1790700" cy="272415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EAF1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8D585DC-FB56-4F92-8067-1FB8670A1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7526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solidFill>
              <a:srgbClr val="087E8B"/>
            </a:solidFill>
            <a:prstDash val="solid"/>
          </a:ln>
        </p:spPr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F1C104E4-4F03-4257-8AA9-826BD8EDF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9050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4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07962D5D-C85F-41F0-9FC9-840A07289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457450"/>
            <a:ext cx="1447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5202B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5202B"/>
                </a:solidFill>
                <a:latin typeface="Aptos Display"/>
                <a:ea typeface="Aptos Display"/>
                <a:cs typeface="Aptos Display"/>
              </a:rPr>
              <a:t>Compose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C5CC109D-53A5-4B5C-AC9A-2F1CC2038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952750"/>
            <a:ext cx="14097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D6B7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D6B78"/>
                </a:solidFill>
                <a:latin typeface="Aptos"/>
                <a:ea typeface="Aptos"/>
                <a:cs typeface="Aptos"/>
              </a:rPr>
              <a:t>Latitude, longitude, accuracy, and a Google Maps URL are prepared.</a:t>
            </a:r>
          </a:p>
        </p:txBody>
      </p:sp>
      <p:sp>
        <p:nvSpPr>
          <p:cNvPr id="25" name="shape">
            <a:extLst xmlns:a="http://schemas.openxmlformats.org/drawingml/2006/main">
              <a:ext uri="{FF2B5EF4-FFF2-40B4-BE49-F238E27FC236}">
                <a16:creationId xmlns:a16="http://schemas.microsoft.com/office/drawing/2014/main" id="{9EC84E89-D4E6-43B1-9FD8-8BD75AE14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133600"/>
            <a:ext cx="1790700" cy="272415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FDEB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A840634-8A7E-494E-8B99-46C23E8E6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17526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solidFill>
              <a:srgbClr val="087E8B"/>
            </a:solidFill>
            <a:prstDash val="solid"/>
          </a:ln>
        </p:spPr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37CF722E-8EDD-4A4B-BCA5-AF8F6B516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19050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5</a:t>
            </a:r>
          </a:p>
        </p:txBody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912BED00-ADB1-4E82-9DE4-0B9D6386D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457450"/>
            <a:ext cx="1447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5202B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5202B"/>
                </a:solidFill>
                <a:latin typeface="Aptos Display"/>
                <a:ea typeface="Aptos Display"/>
                <a:cs typeface="Aptos Display"/>
              </a:rPr>
              <a:t>Email</a:t>
            </a:r>
          </a:p>
        </p:txBody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07F982D9-C9C3-4646-8814-530D9D3CB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952750"/>
            <a:ext cx="14097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D6B7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D6B78"/>
                </a:solidFill>
                <a:latin typeface="Aptos"/>
                <a:ea typeface="Aptos"/>
                <a:cs typeface="Aptos"/>
              </a:rPr>
              <a:t>SMTP sends the update, then the loop waits 10 minutes.</a:t>
            </a:r>
          </a:p>
        </p:txBody>
      </p:sp>
      <p:cxnSp>
        <p:nvCxnSpPr>
          <p:cNvPr id="66" name=""/>
          <p:cNvCxnSpPr>
            <a:stCxn xmlns:a="http://schemas.openxmlformats.org/drawingml/2006/main" id="5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2400300" y="3495675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E8B"/>
            </a:solidFill>
            <a:prstDash val="solid"/>
            <a:headEnd type="arrow" w="med" len="med"/>
          </a:ln>
        </p:spPr>
      </p:cxnSp>
      <p:cxnSp>
        <p:nvCxnSpPr>
          <p:cNvPr id="67" name=""/>
          <p:cNvCxnSpPr>
            <a:stCxn xmlns:a="http://schemas.openxmlformats.org/drawingml/2006/main" id="10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4648200" y="3495675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E8B"/>
            </a:solidFill>
            <a:prstDash val="solid"/>
            <a:headEnd type="arrow" w="med" len="med"/>
          </a:ln>
        </p:spPr>
      </p:cxnSp>
      <p:cxnSp>
        <p:nvCxnSpPr>
          <p:cNvPr id="68" name=""/>
          <p:cNvCxnSpPr>
            <a:stCxn xmlns:a="http://schemas.openxmlformats.org/drawingml/2006/main" id="15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6896100" y="3495675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E8B"/>
            </a:solidFill>
            <a:prstDash val="solid"/>
            <a:headEnd type="arrow" w="med" len="med"/>
          </a:ln>
        </p:spPr>
      </p:cxnSp>
      <p:cxnSp>
        <p:nvCxnSpPr>
          <p:cNvPr id="69" name=""/>
          <p:cNvCxnSpPr>
            <a:stCxn xmlns:a="http://schemas.openxmlformats.org/drawingml/2006/main" id="20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9144000" y="3495675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E8B"/>
            </a:solidFill>
            <a:prstDash val="solid"/>
            <a:headEnd type="arrow" w="med" len="med"/>
          </a:ln>
        </p:spPr>
      </p:cxnSp>
      <p:sp>
        <p:nvSpPr>
          <p:cNvPr id="34" name="shape">
            <a:extLst xmlns:a="http://schemas.openxmlformats.org/drawingml/2006/main">
              <a:ext uri="{FF2B5EF4-FFF2-40B4-BE49-F238E27FC236}">
                <a16:creationId xmlns:a16="http://schemas.microsoft.com/office/drawing/2014/main" id="{32255015-2183-4564-8A00-CC3822F1C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276850"/>
            <a:ext cx="9029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520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text">
            <a:extLst xmlns:a="http://schemas.openxmlformats.org/drawingml/2006/main">
              <a:ext uri="{FF2B5EF4-FFF2-40B4-BE49-F238E27FC236}">
                <a16:creationId xmlns:a16="http://schemas.microsoft.com/office/drawing/2014/main" id="{9E1E91C6-043B-4FE5-9D79-E5E5E8681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4864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Privacy rule</a:t>
            </a:r>
          </a:p>
        </p:txBody>
      </p:sp>
      <p:sp>
        <p:nvSpPr>
          <p:cNvPr id="36" name="text">
            <a:extLst xmlns:a="http://schemas.openxmlformats.org/drawingml/2006/main">
              <a:ext uri="{FF2B5EF4-FFF2-40B4-BE49-F238E27FC236}">
                <a16:creationId xmlns:a16="http://schemas.microsoft.com/office/drawing/2014/main" id="{56318A25-30FD-433D-BE8C-32D866F1A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5486400"/>
            <a:ext cx="7086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Email credentials and the secret code belong in local.properties, which is excluded from GitHub.</a:t>
            </a:r>
          </a:p>
        </p:txBody>
      </p:sp>
    </p:spTree>
    <p:extLst>
      <p:ext uri="{BB962C8B-B14F-4D97-AF65-F5344CB8AC3E}">
        <p14:creationId xmlns:p14="http://schemas.microsoft.com/office/powerpoint/2010/main" val="36310669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8ACC644D-CFAD-479F-ADFB-5F31DD7A6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87E8B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087E8B"/>
                </a:solidFill>
                <a:latin typeface="Aptos Display"/>
                <a:ea typeface="Aptos Display"/>
                <a:cs typeface="Aptos Display"/>
              </a:rPr>
              <a:t>REQUIREMENTS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224DCD5-36C3-478A-9BF0-E92F5171E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5202B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5202B"/>
                </a:solidFill>
                <a:latin typeface="Aptos Display"/>
                <a:ea typeface="Aptos Display"/>
                <a:cs typeface="Aptos Display"/>
              </a:rPr>
              <a:t>The stack is standard Android plus focused vision and location libraries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444546B7-C364-48C6-807F-FAD7C2E0F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5FC45151-9052-4AC4-A7B7-DA1779C0E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D6B78"/>
                </a:solidFill>
                <a:latin typeface="Aptos Display"/>
                <a:ea typeface="Aptos Display"/>
                <a:cs typeface="Aptos Display"/>
              </a:defRPr>
            </a:pPr>
            <a:r>
              <a:rPr sz="750" b="1">
                <a:solidFill>
                  <a:srgbClr val="5D6B78"/>
                </a:solidFill>
                <a:latin typeface="Aptos Display"/>
                <a:ea typeface="Aptos Display"/>
                <a:cs typeface="Aptos Display"/>
              </a:rPr>
              <a:t>08</a:t>
            </a:r>
          </a:p>
        </p:txBody>
      </p:sp>
      <p:sp>
        <p:nvSpPr>
          <p:cNvPr id="5" name="shape">
            <a:extLst xmlns:a="http://schemas.openxmlformats.org/drawingml/2006/main">
              <a:ext uri="{FF2B5EF4-FFF2-40B4-BE49-F238E27FC236}">
                <a16:creationId xmlns:a16="http://schemas.microsoft.com/office/drawing/2014/main" id="{8F871917-EBFD-48B9-B7CA-32882B61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3333750" cy="39433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E7F5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0B332987-DDF3-443A-AE74-946E2CE94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66900"/>
            <a:ext cx="2876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5202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5202B"/>
                </a:solidFill>
                <a:latin typeface="Aptos Display"/>
                <a:ea typeface="Aptos Display"/>
                <a:cs typeface="Aptos Display"/>
              </a:rPr>
              <a:t>DEVELOPMENT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2003CF-A193-43E7-83B1-22A3AE03D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574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A5F"/>
          </a:solidFill>
          <a:ln xmlns:a="http://schemas.openxmlformats.org/drawingml/2006/main" w="0">
            <a:solidFill>
              <a:srgbClr val="FF5A5F"/>
            </a:solidFill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E6F2F914-236F-455F-92AE-E54ABF962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37172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202B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5202B"/>
                </a:solidFill>
                <a:latin typeface="Aptos Display"/>
                <a:ea typeface="Aptos Display"/>
                <a:cs typeface="Aptos Display"/>
              </a:rPr>
              <a:t>Android Studio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FAE194-9EE2-43EE-921D-622662770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099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solidFill>
              <a:srgbClr val="087E8B"/>
            </a:solidFill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1F187183-7CAC-490B-9008-2517DE3F8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92417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520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5202B"/>
                </a:solidFill>
                <a:latin typeface="Aptos"/>
                <a:ea typeface="Aptos"/>
                <a:cs typeface="Aptos"/>
              </a:rPr>
              <a:t>JDK 17 or newer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F8CC09-5BAC-4A26-8AD4-C3FB638A7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623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solidFill>
              <a:srgbClr val="087E8B"/>
            </a:solidFill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A272D7D9-FA1B-48FF-B7EE-ED3ABABCF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47662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520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5202B"/>
                </a:solidFill>
                <a:latin typeface="Aptos"/>
                <a:ea typeface="Aptos"/>
                <a:cs typeface="Aptos"/>
              </a:rPr>
              <a:t>Android SDK Platform 36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70B47E-B27E-41C5-98ED-F4B82F565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148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solidFill>
              <a:srgbClr val="087E8B"/>
            </a:solidFill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247FC633-5051-415F-B420-2F28DD866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2907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520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5202B"/>
                </a:solidFill>
                <a:latin typeface="Aptos"/>
                <a:ea typeface="Aptos"/>
                <a:cs typeface="Aptos"/>
              </a:rPr>
              <a:t>Platform Tools / adb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AE5E47-BA34-49A3-A141-9CF14E81D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672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solidFill>
              <a:srgbClr val="087E8B"/>
            </a:solidFill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29E982F4-B01D-4201-A3DF-3E63895D4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58152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520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5202B"/>
                </a:solidFill>
                <a:latin typeface="Aptos"/>
                <a:ea typeface="Aptos"/>
                <a:cs typeface="Aptos"/>
              </a:rPr>
              <a:t>Git and USB cable</a:t>
            </a:r>
          </a:p>
        </p:txBody>
      </p:sp>
      <p:sp>
        <p:nvSpPr>
          <p:cNvPr id="17" name="shape">
            <a:extLst xmlns:a="http://schemas.openxmlformats.org/drawingml/2006/main">
              <a:ext uri="{FF2B5EF4-FFF2-40B4-BE49-F238E27FC236}">
                <a16:creationId xmlns:a16="http://schemas.microsoft.com/office/drawing/2014/main" id="{7BCE6C71-01AB-4E27-8E20-8B4A47674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619250"/>
            <a:ext cx="3333750" cy="39433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EAF1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F4D102C8-E00A-485C-9D39-4CFBE8E46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866900"/>
            <a:ext cx="2876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5202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5202B"/>
                </a:solidFill>
                <a:latin typeface="Aptos Display"/>
                <a:ea typeface="Aptos Display"/>
                <a:cs typeface="Aptos Display"/>
              </a:rPr>
              <a:t>DEVICE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A02AC9-BA31-4988-BCF9-02882D462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4574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A5F"/>
          </a:solidFill>
          <a:ln xmlns:a="http://schemas.openxmlformats.org/drawingml/2006/main" w="0">
            <a:solidFill>
              <a:srgbClr val="FF5A5F"/>
            </a:solidFill>
            <a:prstDash val="solid"/>
          </a:ln>
        </p:spPr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94B9AE0D-FAC0-480F-A39E-6AEEB51E6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37172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202B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5202B"/>
                </a:solidFill>
                <a:latin typeface="Aptos Display"/>
                <a:ea typeface="Aptos Display"/>
                <a:cs typeface="Aptos Display"/>
              </a:rPr>
              <a:t>Android 7.0+ (API 24)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F45F14D-8991-499A-A3C6-5954BD503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0099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solidFill>
              <a:srgbClr val="087E8B"/>
            </a:solidFill>
            <a:prstDash val="solid"/>
          </a:ln>
        </p:spPr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C9A1D923-D9D7-443C-9967-6E17E616F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92417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520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5202B"/>
                </a:solidFill>
                <a:latin typeface="Aptos"/>
                <a:ea typeface="Aptos"/>
                <a:cs typeface="Aptos"/>
              </a:rPr>
              <a:t>Front camera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4DBAB6C-FE7C-45D9-BA4E-54335B2C9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5623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solidFill>
              <a:srgbClr val="087E8B"/>
            </a:solidFill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91A1F871-D36B-4144-848B-3DF886DB5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47662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520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5202B"/>
                </a:solidFill>
                <a:latin typeface="Aptos"/>
                <a:ea typeface="Aptos"/>
                <a:cs typeface="Aptos"/>
              </a:rPr>
              <a:t>Microphone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3093DA1-023A-42D8-BC0A-2CE360E15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1148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solidFill>
              <a:srgbClr val="087E8B"/>
            </a:solidFill>
            <a:prstDash val="solid"/>
          </a:ln>
        </p:spPr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463A204A-58C7-4D99-B1AB-AF6CF2CA6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02907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520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5202B"/>
                </a:solidFill>
                <a:latin typeface="Aptos"/>
                <a:ea typeface="Aptos"/>
                <a:cs typeface="Aptos"/>
              </a:rPr>
              <a:t>Location services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3AF716A-8A40-4A33-98D0-42C920760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6672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solidFill>
              <a:srgbClr val="087E8B"/>
            </a:solidFill>
            <a:prstDash val="solid"/>
          </a:ln>
        </p:spPr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BDFE0C9B-D214-4B7C-8AD9-DCD7F3F44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58152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520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5202B"/>
                </a:solidFill>
                <a:latin typeface="Aptos"/>
                <a:ea typeface="Aptos"/>
                <a:cs typeface="Aptos"/>
              </a:rPr>
              <a:t>USB debugging</a:t>
            </a:r>
          </a:p>
        </p:txBody>
      </p:sp>
      <p:sp>
        <p:nvSpPr>
          <p:cNvPr id="29" name="shape">
            <a:extLst xmlns:a="http://schemas.openxmlformats.org/drawingml/2006/main">
              <a:ext uri="{FF2B5EF4-FFF2-40B4-BE49-F238E27FC236}">
                <a16:creationId xmlns:a16="http://schemas.microsoft.com/office/drawing/2014/main" id="{86E0B70D-2D61-46B1-8E50-975E76CEA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19250"/>
            <a:ext cx="3333750" cy="39433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FFF2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text">
            <a:extLst xmlns:a="http://schemas.openxmlformats.org/drawingml/2006/main">
              <a:ext uri="{FF2B5EF4-FFF2-40B4-BE49-F238E27FC236}">
                <a16:creationId xmlns:a16="http://schemas.microsoft.com/office/drawing/2014/main" id="{4E96A075-2AAD-44DA-8C49-E09377341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866900"/>
            <a:ext cx="2876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5202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5202B"/>
                </a:solidFill>
                <a:latin typeface="Aptos Display"/>
                <a:ea typeface="Aptos Display"/>
                <a:cs typeface="Aptos Display"/>
              </a:rPr>
              <a:t>CORE LIBRARIES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0325DCA-C3B9-4AAB-9813-A1D22E32B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4574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A5F"/>
          </a:solidFill>
          <a:ln xmlns:a="http://schemas.openxmlformats.org/drawingml/2006/main" w="0">
            <a:solidFill>
              <a:srgbClr val="FF5A5F"/>
            </a:solidFill>
            <a:prstDash val="solid"/>
          </a:ln>
        </p:spPr>
      </p:sp>
      <p:sp>
        <p:nvSpPr>
          <p:cNvPr id="32" name="text">
            <a:extLst xmlns:a="http://schemas.openxmlformats.org/drawingml/2006/main">
              <a:ext uri="{FF2B5EF4-FFF2-40B4-BE49-F238E27FC236}">
                <a16:creationId xmlns:a16="http://schemas.microsoft.com/office/drawing/2014/main" id="{09FC9D2D-227E-4C79-8729-5EB87179C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37172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202B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5202B"/>
                </a:solidFill>
                <a:latin typeface="Aptos Display"/>
                <a:ea typeface="Aptos Display"/>
                <a:cs typeface="Aptos Display"/>
              </a:rPr>
              <a:t>Jetpack Compose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10B1E34-6913-45D2-B845-E1A0FAD7E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0099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solidFill>
              <a:srgbClr val="087E8B"/>
            </a:solidFill>
            <a:prstDash val="solid"/>
          </a:ln>
        </p:spPr>
      </p:sp>
      <p:sp>
        <p:nvSpPr>
          <p:cNvPr id="34" name="text">
            <a:extLst xmlns:a="http://schemas.openxmlformats.org/drawingml/2006/main">
              <a:ext uri="{FF2B5EF4-FFF2-40B4-BE49-F238E27FC236}">
                <a16:creationId xmlns:a16="http://schemas.microsoft.com/office/drawing/2014/main" id="{72FAAAC0-89FD-4C9F-BBC1-69E02748B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92417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520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5202B"/>
                </a:solidFill>
                <a:latin typeface="Aptos"/>
                <a:ea typeface="Aptos"/>
                <a:cs typeface="Aptos"/>
              </a:rPr>
              <a:t>CameraX 1.5.3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0D5BADC-3D33-45C8-81E8-1C0E44283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5623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solidFill>
              <a:srgbClr val="087E8B"/>
            </a:solidFill>
            <a:prstDash val="solid"/>
          </a:ln>
        </p:spPr>
      </p:sp>
      <p:sp>
        <p:nvSpPr>
          <p:cNvPr id="36" name="text">
            <a:extLst xmlns:a="http://schemas.openxmlformats.org/drawingml/2006/main">
              <a:ext uri="{FF2B5EF4-FFF2-40B4-BE49-F238E27FC236}">
                <a16:creationId xmlns:a16="http://schemas.microsoft.com/office/drawing/2014/main" id="{4CD21987-FF6A-4996-A432-79D460E65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47662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520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5202B"/>
                </a:solidFill>
                <a:latin typeface="Aptos"/>
                <a:ea typeface="Aptos"/>
                <a:cs typeface="Aptos"/>
              </a:rPr>
              <a:t>MediaPipe 0.10.20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6E3D3DD-5E46-46CF-B943-2DFBE2441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1148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solidFill>
              <a:srgbClr val="087E8B"/>
            </a:solidFill>
            <a:prstDash val="solid"/>
          </a:ln>
        </p:spPr>
      </p:sp>
      <p:sp>
        <p:nvSpPr>
          <p:cNvPr id="38" name="text">
            <a:extLst xmlns:a="http://schemas.openxmlformats.org/drawingml/2006/main">
              <a:ext uri="{FF2B5EF4-FFF2-40B4-BE49-F238E27FC236}">
                <a16:creationId xmlns:a16="http://schemas.microsoft.com/office/drawing/2014/main" id="{49212598-49E4-4C7E-9135-651495545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02907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520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5202B"/>
                </a:solidFill>
                <a:latin typeface="Aptos"/>
                <a:ea typeface="Aptos"/>
                <a:cs typeface="Aptos"/>
              </a:rPr>
              <a:t>Play Services Location 21.3.0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84D5AC1-DA46-4C61-B082-E1C8D69CF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6672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solidFill>
              <a:srgbClr val="087E8B"/>
            </a:solidFill>
            <a:prstDash val="solid"/>
          </a:ln>
        </p:spPr>
      </p:sp>
      <p:sp>
        <p:nvSpPr>
          <p:cNvPr id="40" name="text">
            <a:extLst xmlns:a="http://schemas.openxmlformats.org/drawingml/2006/main">
              <a:ext uri="{FF2B5EF4-FFF2-40B4-BE49-F238E27FC236}">
                <a16:creationId xmlns:a16="http://schemas.microsoft.com/office/drawing/2014/main" id="{DCD3EAE6-94FF-4A81-915B-9E3537F7E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58152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520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5202B"/>
                </a:solidFill>
                <a:latin typeface="Aptos"/>
                <a:ea typeface="Aptos"/>
                <a:cs typeface="Aptos"/>
              </a:rPr>
              <a:t>Coroutines + Android Mail</a:t>
            </a:r>
          </a:p>
        </p:txBody>
      </p:sp>
      <p:sp>
        <p:nvSpPr>
          <p:cNvPr id="41" name="pill-Accessibility service must be enabled by the user">
            <a:extLst xmlns:a="http://schemas.openxmlformats.org/drawingml/2006/main">
              <a:ext uri="{FF2B5EF4-FFF2-40B4-BE49-F238E27FC236}">
                <a16:creationId xmlns:a16="http://schemas.microsoft.com/office/drawing/2014/main" id="{5EC67E4E-339B-407C-9BF3-B4113257E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905500"/>
            <a:ext cx="5524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DEB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text">
            <a:extLst xmlns:a="http://schemas.openxmlformats.org/drawingml/2006/main">
              <a:ext uri="{FF2B5EF4-FFF2-40B4-BE49-F238E27FC236}">
                <a16:creationId xmlns:a16="http://schemas.microsoft.com/office/drawing/2014/main" id="{F2C2EBE0-7BC3-49DB-83A8-B4D7F6541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5972175"/>
            <a:ext cx="5372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5202B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15202B"/>
                </a:solidFill>
                <a:latin typeface="Aptos Display"/>
                <a:ea typeface="Aptos Display"/>
                <a:cs typeface="Aptos Display"/>
              </a:rPr>
              <a:t>Accessibility service must be enabled by the user</a:t>
            </a:r>
          </a:p>
        </p:txBody>
      </p:sp>
    </p:spTree>
    <p:extLst>
      <p:ext uri="{BB962C8B-B14F-4D97-AF65-F5344CB8AC3E}">
        <p14:creationId xmlns:p14="http://schemas.microsoft.com/office/powerpoint/2010/main" val="192307903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EFC0A465-83F4-4159-9F63-58112A6E6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87E8B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087E8B"/>
                </a:solidFill>
                <a:latin typeface="Aptos Display"/>
                <a:ea typeface="Aptos Display"/>
                <a:cs typeface="Aptos Display"/>
              </a:rPr>
              <a:t>BUILD AND RUN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64773BE-0DD0-4772-8DD7-F7278085B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5202B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5202B"/>
                </a:solidFill>
                <a:latin typeface="Aptos Display"/>
                <a:ea typeface="Aptos Display"/>
                <a:cs typeface="Aptos Display"/>
              </a:rPr>
              <a:t>Build, install, and enable in a controlled sequence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D2D09438-2FA0-4B64-AE8D-ABDDAEF05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E7DE453-5DB0-4020-996A-ADB8262D3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D6B78"/>
                </a:solidFill>
                <a:latin typeface="Aptos Display"/>
                <a:ea typeface="Aptos Display"/>
                <a:cs typeface="Aptos Display"/>
              </a:defRPr>
            </a:pPr>
            <a:r>
              <a:rPr sz="750" b="1">
                <a:solidFill>
                  <a:srgbClr val="5D6B78"/>
                </a:solidFill>
                <a:latin typeface="Aptos Display"/>
                <a:ea typeface="Aptos Display"/>
                <a:cs typeface="Aptos Display"/>
              </a:rPr>
              <a:t>09</a:t>
            </a:r>
          </a:p>
        </p:txBody>
      </p:sp>
      <p:sp>
        <p:nvSpPr>
          <p:cNvPr id="5" name="shape">
            <a:extLst xmlns:a="http://schemas.openxmlformats.org/drawingml/2006/main">
              <a:ext uri="{FF2B5EF4-FFF2-40B4-BE49-F238E27FC236}">
                <a16:creationId xmlns:a16="http://schemas.microsoft.com/office/drawing/2014/main" id="{470AF9C1-BAB4-464E-9423-832FF44A8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52578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5D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A69696-FB1E-4101-8F15-9C3D92906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716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solidFill>
              <a:srgbClr val="087E8B"/>
            </a:solidFill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76B1B074-295A-40A1-B9DA-4A02EE5C9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895475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1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2F319EB3-D53B-43A2-BAE0-AEFF51A7F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7145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5202B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5202B"/>
                </a:solidFill>
                <a:latin typeface="Aptos Display"/>
                <a:ea typeface="Aptos Display"/>
                <a:cs typeface="Aptos Display"/>
              </a:rPr>
              <a:t>Configure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A9420503-89D2-44F7-8ECD-BB45284D0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057400"/>
            <a:ext cx="400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D6B78"/>
                </a:solidFill>
                <a:latin typeface="Aptos"/>
                <a:ea typeface="Aptos"/>
                <a:cs typeface="Aptos"/>
              </a:rPr>
              <a:t>Copy local.properties.example and add SDK path and private values.</a:t>
            </a:r>
          </a:p>
        </p:txBody>
      </p:sp>
      <p:sp>
        <p:nvSpPr>
          <p:cNvPr id="10" name="shape">
            <a:extLst xmlns:a="http://schemas.openxmlformats.org/drawingml/2006/main">
              <a:ext uri="{FF2B5EF4-FFF2-40B4-BE49-F238E27FC236}">
                <a16:creationId xmlns:a16="http://schemas.microsoft.com/office/drawing/2014/main" id="{50904CB1-3846-4FE5-8528-51D1A97D2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504950"/>
            <a:ext cx="52578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5D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A0B127-33D5-4F98-9D84-419F2736E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7716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solidFill>
              <a:srgbClr val="087E8B"/>
            </a:solidFill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398B21DF-5691-4166-A9FA-CFF4BEE32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1895475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2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8C7564BB-3F90-45F5-A249-7949589DC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7145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5202B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5202B"/>
                </a:solidFill>
                <a:latin typeface="Aptos Display"/>
                <a:ea typeface="Aptos Display"/>
                <a:cs typeface="Aptos Display"/>
              </a:rPr>
              <a:t>Build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EDEAC17C-2143-43F8-A4A1-5EFB16EFC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057400"/>
            <a:ext cx="400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D6B78"/>
                </a:solidFill>
                <a:latin typeface="Aptos"/>
                <a:ea typeface="Aptos"/>
                <a:cs typeface="Aptos"/>
              </a:rPr>
              <a:t>./gradlew :app:assembleDebug</a:t>
            </a:r>
          </a:p>
        </p:txBody>
      </p:sp>
      <p:sp>
        <p:nvSpPr>
          <p:cNvPr id="15" name="shape">
            <a:extLst xmlns:a="http://schemas.openxmlformats.org/drawingml/2006/main">
              <a:ext uri="{FF2B5EF4-FFF2-40B4-BE49-F238E27FC236}">
                <a16:creationId xmlns:a16="http://schemas.microsoft.com/office/drawing/2014/main" id="{BC7BF9BC-919A-4449-85D8-B0EA1CF31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28950"/>
            <a:ext cx="52578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5D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D18A9B-C487-4819-9162-5BA0E24BF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956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solidFill>
              <a:srgbClr val="087E8B"/>
            </a:solidFill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6E9B6BE6-275B-48F9-8E00-3C44E02B0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419475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3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8C9068E6-EEB0-4F8B-BB20-12DAD2B88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2385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5202B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5202B"/>
                </a:solidFill>
                <a:latin typeface="Aptos Display"/>
                <a:ea typeface="Aptos Display"/>
                <a:cs typeface="Aptos Display"/>
              </a:rPr>
              <a:t>Connect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951E1BD6-BA44-44AE-8C07-94AE49338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581400"/>
            <a:ext cx="400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D6B78"/>
                </a:solidFill>
                <a:latin typeface="Aptos"/>
                <a:ea typeface="Aptos"/>
                <a:cs typeface="Aptos"/>
              </a:rPr>
              <a:t>Enable USB debugging, connect the phone, then run adb devices.</a:t>
            </a:r>
          </a:p>
        </p:txBody>
      </p:sp>
      <p:sp>
        <p:nvSpPr>
          <p:cNvPr id="20" name="shape">
            <a:extLst xmlns:a="http://schemas.openxmlformats.org/drawingml/2006/main">
              <a:ext uri="{FF2B5EF4-FFF2-40B4-BE49-F238E27FC236}">
                <a16:creationId xmlns:a16="http://schemas.microsoft.com/office/drawing/2014/main" id="{21B7B8C8-AAB9-4AF5-8A29-E5BD31221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028950"/>
            <a:ext cx="52578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5D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1A1BE2-7259-492A-B064-3D6A3765B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2956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solidFill>
              <a:srgbClr val="087E8B"/>
            </a:solidFill>
            <a:prstDash val="solid"/>
          </a:ln>
        </p:spPr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F3F9DEBF-277D-4C31-A2B1-D3ABE39A5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3419475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4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279D60E6-94DD-493C-86B5-C9D7D45B0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2385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5202B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5202B"/>
                </a:solidFill>
                <a:latin typeface="Aptos Display"/>
                <a:ea typeface="Aptos Display"/>
                <a:cs typeface="Aptos Display"/>
              </a:rPr>
              <a:t>Install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0D507C81-4434-4793-9C59-550785165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581400"/>
            <a:ext cx="400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D6B78"/>
                </a:solidFill>
                <a:latin typeface="Aptos"/>
                <a:ea typeface="Aptos"/>
                <a:cs typeface="Aptos"/>
              </a:rPr>
              <a:t>./gradlew :app:installDebug</a:t>
            </a:r>
          </a:p>
        </p:txBody>
      </p:sp>
      <p:sp>
        <p:nvSpPr>
          <p:cNvPr id="25" name="shape">
            <a:extLst xmlns:a="http://schemas.openxmlformats.org/drawingml/2006/main">
              <a:ext uri="{FF2B5EF4-FFF2-40B4-BE49-F238E27FC236}">
                <a16:creationId xmlns:a16="http://schemas.microsoft.com/office/drawing/2014/main" id="{8A374837-0EEA-4DC8-87B5-5839D7EC2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52950"/>
            <a:ext cx="52578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5D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0DC8CE6-0310-4025-B71C-BB0A5DAD7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196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solidFill>
              <a:srgbClr val="087E8B"/>
            </a:solidFill>
            <a:prstDash val="solid"/>
          </a:ln>
        </p:spPr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0F3C2A96-612F-438F-8467-ECDB04229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943475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5</a:t>
            </a:r>
          </a:p>
        </p:txBody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4B37ED37-8233-4CEC-969F-50BDE34A3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7625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5202B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5202B"/>
                </a:solidFill>
                <a:latin typeface="Aptos Display"/>
                <a:ea typeface="Aptos Display"/>
                <a:cs typeface="Aptos Display"/>
              </a:rPr>
              <a:t>Enable</a:t>
            </a:r>
          </a:p>
        </p:txBody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497E69A1-C705-4248-B511-FD965DA12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105400"/>
            <a:ext cx="400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D6B78"/>
                </a:solidFill>
                <a:latin typeface="Aptos"/>
                <a:ea typeface="Aptos"/>
                <a:cs typeface="Aptos"/>
              </a:rPr>
              <a:t>Grant permissions and turn on Ammu No Touch Control in Accessibility.</a:t>
            </a:r>
          </a:p>
        </p:txBody>
      </p:sp>
      <p:sp>
        <p:nvSpPr>
          <p:cNvPr id="30" name="shape">
            <a:extLst xmlns:a="http://schemas.openxmlformats.org/drawingml/2006/main">
              <a:ext uri="{FF2B5EF4-FFF2-40B4-BE49-F238E27FC236}">
                <a16:creationId xmlns:a16="http://schemas.microsoft.com/office/drawing/2014/main" id="{952A4940-E96C-4427-BFED-316D74FE7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552950"/>
            <a:ext cx="52578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5DD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03ABB4E-FC42-4461-BAF9-2656B91B1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8196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A5F"/>
          </a:solidFill>
          <a:ln xmlns:a="http://schemas.openxmlformats.org/drawingml/2006/main" w="0">
            <a:solidFill>
              <a:srgbClr val="FF5A5F"/>
            </a:solidFill>
            <a:prstDash val="solid"/>
          </a:ln>
        </p:spPr>
      </p:sp>
      <p:sp>
        <p:nvSpPr>
          <p:cNvPr id="32" name="text">
            <a:extLst xmlns:a="http://schemas.openxmlformats.org/drawingml/2006/main">
              <a:ext uri="{FF2B5EF4-FFF2-40B4-BE49-F238E27FC236}">
                <a16:creationId xmlns:a16="http://schemas.microsoft.com/office/drawing/2014/main" id="{F7811D67-94AC-429B-AD62-0FD732B3A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4943475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6</a:t>
            </a:r>
          </a:p>
        </p:txBody>
      </p:sp>
      <p:sp>
        <p:nvSpPr>
          <p:cNvPr id="33" name="text">
            <a:extLst xmlns:a="http://schemas.openxmlformats.org/drawingml/2006/main">
              <a:ext uri="{FF2B5EF4-FFF2-40B4-BE49-F238E27FC236}">
                <a16:creationId xmlns:a16="http://schemas.microsoft.com/office/drawing/2014/main" id="{7C02DB5A-AA8B-4858-A6C5-8733DD7B6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7625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5202B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5202B"/>
                </a:solidFill>
                <a:latin typeface="Aptos Display"/>
                <a:ea typeface="Aptos Display"/>
                <a:cs typeface="Aptos Display"/>
              </a:rPr>
              <a:t>Test</a:t>
            </a:r>
          </a:p>
        </p:txBody>
      </p:sp>
      <p:sp>
        <p:nvSpPr>
          <p:cNvPr id="34" name="text">
            <a:extLst xmlns:a="http://schemas.openxmlformats.org/drawingml/2006/main">
              <a:ext uri="{FF2B5EF4-FFF2-40B4-BE49-F238E27FC236}">
                <a16:creationId xmlns:a16="http://schemas.microsoft.com/office/drawing/2014/main" id="{854102AF-D285-4EE5-B0EB-1DA9C5F3B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5105400"/>
            <a:ext cx="400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D6B78"/>
                </a:solidFill>
                <a:latin typeface="Aptos"/>
                <a:ea typeface="Aptos"/>
                <a:cs typeface="Aptos"/>
              </a:rPr>
              <a:t>Start Air Gestures, open another app, and verify each mapped action.</a:t>
            </a:r>
          </a:p>
        </p:txBody>
      </p:sp>
      <p:sp>
        <p:nvSpPr>
          <p:cNvPr id="35" name="shape">
            <a:extLst xmlns:a="http://schemas.openxmlformats.org/drawingml/2006/main">
              <a:ext uri="{FF2B5EF4-FFF2-40B4-BE49-F238E27FC236}">
                <a16:creationId xmlns:a16="http://schemas.microsoft.com/office/drawing/2014/main" id="{FA17B10D-50C6-47B1-BF6B-3C5C1B5F3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4892709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4FD7FB19-53FC-4B7C-9896-5A111657D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87E8B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087E8B"/>
                </a:solidFill>
                <a:latin typeface="Aptos Display"/>
                <a:ea typeface="Aptos Display"/>
                <a:cs typeface="Aptos Display"/>
              </a:rPr>
              <a:t>RESPONSIBLE OPERATION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40E108C-CC84-477E-AA6D-A23EB6412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5202B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5202B"/>
                </a:solidFill>
                <a:latin typeface="Aptos Display"/>
                <a:ea typeface="Aptos Display"/>
                <a:cs typeface="Aptos Display"/>
              </a:rPr>
              <a:t>Strong permissions and clear limitations keep the project credible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51A1925B-FC56-402F-80DB-254CCF17D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31F6373B-72A5-47FF-BC7A-4CB908BED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D6B78"/>
                </a:solidFill>
                <a:latin typeface="Aptos Display"/>
                <a:ea typeface="Aptos Display"/>
                <a:cs typeface="Aptos Display"/>
              </a:defRPr>
            </a:pPr>
            <a:r>
              <a:rPr sz="750" b="1">
                <a:solidFill>
                  <a:srgbClr val="5D6B78"/>
                </a:solidFill>
                <a:latin typeface="Aptos Display"/>
                <a:ea typeface="Aptos Display"/>
                <a:cs typeface="Aptos Display"/>
              </a:rPr>
              <a:t>10</a:t>
            </a:r>
          </a:p>
        </p:txBody>
      </p:sp>
      <p:sp>
        <p:nvSpPr>
          <p:cNvPr id="5" name="shape">
            <a:extLst xmlns:a="http://schemas.openxmlformats.org/drawingml/2006/main">
              <a:ext uri="{FF2B5EF4-FFF2-40B4-BE49-F238E27FC236}">
                <a16:creationId xmlns:a16="http://schemas.microsoft.com/office/drawing/2014/main" id="{1928E17E-1EA2-4C42-ADF5-F40FBC4A7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3333750" cy="39052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E7F5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745B0494-4986-43DD-A80A-BEF8E781C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85950"/>
            <a:ext cx="2876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5202B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5202B"/>
                </a:solidFill>
                <a:latin typeface="Aptos Display"/>
                <a:ea typeface="Aptos Display"/>
                <a:cs typeface="Aptos Display"/>
              </a:rPr>
              <a:t>SECURITY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7C6647-F99B-49C0-A37B-4E49F3854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717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A5F"/>
          </a:solidFill>
          <a:ln xmlns:a="http://schemas.openxmlformats.org/drawingml/2006/main" w="0">
            <a:solidFill>
              <a:srgbClr val="FF5A5F"/>
            </a:solidFill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CBD6C585-18E0-4894-A95D-E96E9E495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476500"/>
            <a:ext cx="2552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5202B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5202B"/>
                </a:solidFill>
                <a:latin typeface="Aptos Display"/>
                <a:ea typeface="Aptos Display"/>
                <a:cs typeface="Aptos Display"/>
              </a:rPr>
              <a:t>Never commit local.properties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7081C9-C60D-4442-8A4E-C8C00B6E8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908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solidFill>
              <a:srgbClr val="087E8B"/>
            </a:solidFill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206F8A2A-47CA-4AE8-BEB1-7705792BD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095625"/>
            <a:ext cx="2552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520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5202B"/>
                </a:solidFill>
                <a:latin typeface="Aptos"/>
                <a:ea typeface="Aptos"/>
                <a:cs typeface="Aptos"/>
              </a:rPr>
              <a:t>Use Gmail App Passwords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259BAF-BCFB-4345-BE88-E0F81F604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100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solidFill>
              <a:srgbClr val="087E8B"/>
            </a:solidFill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669EFA50-C68F-4E8E-9CF8-9E7AC2173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14750"/>
            <a:ext cx="2552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520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5202B"/>
                </a:solidFill>
                <a:latin typeface="Aptos"/>
                <a:ea typeface="Aptos"/>
                <a:cs typeface="Aptos"/>
              </a:rPr>
              <a:t>Rotate keys shared in chat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285FFD-3F7A-4DEC-9E1C-28BEB3E53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291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solidFill>
              <a:srgbClr val="087E8B"/>
            </a:solidFill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6C5AE5BB-5008-4432-82A1-8DE4983D7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333875"/>
            <a:ext cx="2552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520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5202B"/>
                </a:solidFill>
                <a:latin typeface="Aptos"/>
                <a:ea typeface="Aptos"/>
                <a:cs typeface="Aptos"/>
              </a:rPr>
              <a:t>Keep services visibly foreground</a:t>
            </a:r>
          </a:p>
        </p:txBody>
      </p:sp>
      <p:sp>
        <p:nvSpPr>
          <p:cNvPr id="15" name="shape">
            <a:extLst xmlns:a="http://schemas.openxmlformats.org/drawingml/2006/main">
              <a:ext uri="{FF2B5EF4-FFF2-40B4-BE49-F238E27FC236}">
                <a16:creationId xmlns:a16="http://schemas.microsoft.com/office/drawing/2014/main" id="{85E7D988-A3A5-4736-9562-51AA75082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619250"/>
            <a:ext cx="3333750" cy="39052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EAF1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231145CB-890B-4FCE-8DEF-43C61DECB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1885950"/>
            <a:ext cx="2876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5202B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5202B"/>
                </a:solidFill>
                <a:latin typeface="Aptos Display"/>
                <a:ea typeface="Aptos Display"/>
                <a:cs typeface="Aptos Display"/>
              </a:rPr>
              <a:t>LIMITATIONS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1DD7CD-9828-4018-9265-804E72766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5717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A5F"/>
          </a:solidFill>
          <a:ln xmlns:a="http://schemas.openxmlformats.org/drawingml/2006/main" w="0">
            <a:solidFill>
              <a:srgbClr val="FF5A5F"/>
            </a:solidFill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7707222B-A268-476F-9626-41ACC3FC9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2476500"/>
            <a:ext cx="2552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5202B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5202B"/>
                </a:solidFill>
                <a:latin typeface="Aptos Display"/>
                <a:ea typeface="Aptos Display"/>
                <a:cs typeface="Aptos Display"/>
              </a:rPr>
              <a:t>SpeechRecognizer is not a true wake-word engine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5AE936-FDBE-4670-8106-BA814AC72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31908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solidFill>
              <a:srgbClr val="087E8B"/>
            </a:solidFill>
            <a:prstDash val="solid"/>
          </a:ln>
        </p:spPr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F6C50882-948C-4FC5-B5CB-0A385D59C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3095625"/>
            <a:ext cx="2552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520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5202B"/>
                </a:solidFill>
                <a:latin typeface="Aptos"/>
                <a:ea typeface="Aptos"/>
                <a:cs typeface="Aptos"/>
              </a:rPr>
              <a:t>Accessibility is user-enabled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1A2089D-D824-4EB3-B4E2-13C7C98E0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38100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solidFill>
              <a:srgbClr val="087E8B"/>
            </a:solidFill>
            <a:prstDash val="solid"/>
          </a:ln>
        </p:spPr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9EDC1194-DC3D-476F-B9AD-B2C1C2A9C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3714750"/>
            <a:ext cx="2552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520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5202B"/>
                </a:solidFill>
                <a:latin typeface="Aptos"/>
                <a:ea typeface="Aptos"/>
                <a:cs typeface="Aptos"/>
              </a:rPr>
              <a:t>Call control varies by Android/OEM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C6B640B-A97D-4412-AAD2-49CD46F4B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44291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solidFill>
              <a:srgbClr val="087E8B"/>
            </a:solidFill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D4D03180-BD09-4D38-94F5-BA658C4D7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4333875"/>
            <a:ext cx="2552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520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5202B"/>
                </a:solidFill>
                <a:latin typeface="Aptos"/>
                <a:ea typeface="Aptos"/>
                <a:cs typeface="Aptos"/>
              </a:rPr>
              <a:t>Camera use affects battery and privacy</a:t>
            </a:r>
          </a:p>
        </p:txBody>
      </p:sp>
      <p:sp>
        <p:nvSpPr>
          <p:cNvPr id="25" name="shape">
            <a:extLst xmlns:a="http://schemas.openxmlformats.org/drawingml/2006/main">
              <a:ext uri="{FF2B5EF4-FFF2-40B4-BE49-F238E27FC236}">
                <a16:creationId xmlns:a16="http://schemas.microsoft.com/office/drawing/2014/main" id="{EBC78927-BE7B-4EDC-A232-D9FC1AEFC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619250"/>
            <a:ext cx="3333750" cy="39052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FDEB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F694F3C9-754B-4ABA-80EC-23F802F9E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885950"/>
            <a:ext cx="2876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5202B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5202B"/>
                </a:solidFill>
                <a:latin typeface="Aptos Display"/>
                <a:ea typeface="Aptos Display"/>
                <a:cs typeface="Aptos Display"/>
              </a:rPr>
              <a:t>NEXT STEPS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C8A3891-CFE6-42FE-96B0-3D42E3A3E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5717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A5F"/>
          </a:solidFill>
          <a:ln xmlns:a="http://schemas.openxmlformats.org/drawingml/2006/main" w="0">
            <a:solidFill>
              <a:srgbClr val="FF5A5F"/>
            </a:solidFill>
            <a:prstDash val="solid"/>
          </a:ln>
        </p:spPr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E965F4F6-AB4C-49D2-8F2D-7AEC2EF7B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476500"/>
            <a:ext cx="2552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5202B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5202B"/>
                </a:solidFill>
                <a:latin typeface="Aptos Display"/>
                <a:ea typeface="Aptos Display"/>
                <a:cs typeface="Aptos Display"/>
              </a:rPr>
              <a:t>Add device-tested gesture tuning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5CF0BDA-68CE-47F6-9E74-CFAF2175A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1908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solidFill>
              <a:srgbClr val="087E8B"/>
            </a:solidFill>
            <a:prstDash val="solid"/>
          </a:ln>
        </p:spPr>
      </p:sp>
      <p:sp>
        <p:nvSpPr>
          <p:cNvPr id="30" name="text">
            <a:extLst xmlns:a="http://schemas.openxmlformats.org/drawingml/2006/main">
              <a:ext uri="{FF2B5EF4-FFF2-40B4-BE49-F238E27FC236}">
                <a16:creationId xmlns:a16="http://schemas.microsoft.com/office/drawing/2014/main" id="{8CAD2336-DACF-4370-8752-E4579A868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095625"/>
            <a:ext cx="2552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520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5202B"/>
                </a:solidFill>
                <a:latin typeface="Aptos"/>
                <a:ea typeface="Aptos"/>
                <a:cs typeface="Aptos"/>
              </a:rPr>
              <a:t>Add structured command tests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1CBDE01-7444-4568-A92C-A47354240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8100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solidFill>
              <a:srgbClr val="087E8B"/>
            </a:solidFill>
            <a:prstDash val="solid"/>
          </a:ln>
        </p:spPr>
      </p:sp>
      <p:sp>
        <p:nvSpPr>
          <p:cNvPr id="32" name="text">
            <a:extLst xmlns:a="http://schemas.openxmlformats.org/drawingml/2006/main">
              <a:ext uri="{FF2B5EF4-FFF2-40B4-BE49-F238E27FC236}">
                <a16:creationId xmlns:a16="http://schemas.microsoft.com/office/drawing/2014/main" id="{2E48819B-1AB7-4A75-B0E0-58F5425A6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714750"/>
            <a:ext cx="2552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520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5202B"/>
                </a:solidFill>
                <a:latin typeface="Aptos"/>
                <a:ea typeface="Aptos"/>
                <a:cs typeface="Aptos"/>
              </a:rPr>
              <a:t>Improve background lifecycle handling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B298A64-1AF3-4114-A9B1-442ED8B62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4291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solidFill>
              <a:srgbClr val="087E8B"/>
            </a:solidFill>
            <a:prstDash val="solid"/>
          </a:ln>
        </p:spPr>
      </p:sp>
      <p:sp>
        <p:nvSpPr>
          <p:cNvPr id="34" name="text">
            <a:extLst xmlns:a="http://schemas.openxmlformats.org/drawingml/2006/main">
              <a:ext uri="{FF2B5EF4-FFF2-40B4-BE49-F238E27FC236}">
                <a16:creationId xmlns:a16="http://schemas.microsoft.com/office/drawing/2014/main" id="{44B4D5F1-01DC-4CB3-8903-7DD132E3F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333875"/>
            <a:ext cx="2552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520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5202B"/>
                </a:solidFill>
                <a:latin typeface="Aptos"/>
                <a:ea typeface="Aptos"/>
                <a:cs typeface="Aptos"/>
              </a:rPr>
              <a:t>Replace SMTP secrets with a secure backend</a:t>
            </a:r>
          </a:p>
        </p:txBody>
      </p:sp>
      <p:sp>
        <p:nvSpPr>
          <p:cNvPr id="35" name="text">
            <a:extLst xmlns:a="http://schemas.openxmlformats.org/drawingml/2006/main">
              <a:ext uri="{FF2B5EF4-FFF2-40B4-BE49-F238E27FC236}">
                <a16:creationId xmlns:a16="http://schemas.microsoft.com/office/drawing/2014/main" id="{B0120CBD-57A9-4DD8-8B4D-D594A7A77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8170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87E8B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087E8B"/>
                </a:solidFill>
                <a:latin typeface="Aptos Display"/>
                <a:ea typeface="Aptos Display"/>
                <a:cs typeface="Aptos Display"/>
              </a:rPr>
              <a:t>Outcome: a practical demonstration platform for touchless interaction and Android accessibility research.</a:t>
            </a:r>
          </a:p>
        </p:txBody>
      </p:sp>
    </p:spTree>
    <p:extLst>
      <p:ext uri="{BB962C8B-B14F-4D97-AF65-F5344CB8AC3E}">
        <p14:creationId xmlns:p14="http://schemas.microsoft.com/office/powerpoint/2010/main" val="136393830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2026-06-24T07:03:05.8100000Z</dcterms:created>
  <dcterms:modified xsi:type="dcterms:W3CDTF">2026-06-24T07:03:05.8100000Z</dcterms:modified>
</coreProperties>
</file>